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748698"/>
            <a:ext cx="1557003" cy="310753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714375" y="748698"/>
            <a:ext cx="1557003" cy="31075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ESP-IDF 導入ガイド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14375" y="1273764"/>
            <a:ext cx="3643313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CrowPanel </a:t>
            </a: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Advanced</a:t>
            </a: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33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7inch V1.1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14375" y="3133930"/>
            <a:ext cx="3643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 × ESP-IDFで始める</a:t>
            </a:r>
            <a:r>
              <a:rPr lang="en-US" sz="170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70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画面・タッチ・Wi-Fi検証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260856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4413" y="4248355"/>
            <a:ext cx="21479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regional-engineer / YouTube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785813"/>
            <a:ext cx="3643313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7281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最初のゴールは「2つの成功」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535906"/>
            <a:ext cx="3857625" cy="1571625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839516"/>
            <a:ext cx="25717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1581" y="1821656"/>
            <a:ext cx="105459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Lesson09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7250" y="2228850"/>
            <a:ext cx="327898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LCD・タッチ・LVGLの動作を</a:t>
            </a: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実機で確認する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7731" y="1535906"/>
            <a:ext cx="3864769" cy="1571625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839516"/>
            <a:ext cx="2857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3531" y="1821656"/>
            <a:ext cx="1867421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Lesson17 station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00625" y="2228850"/>
            <a:ext cx="328612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 GHz Wi-Fiへ接続し</a:t>
            </a: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IPアドレスを取得する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71500" y="3464719"/>
            <a:ext cx="8001000" cy="857250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869" y="3895130"/>
            <a:ext cx="17145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60475" y="3887986"/>
            <a:ext cx="61016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まずは「表示できる」と「IPを取れる」を分けて検証する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V1.1を固定して始める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0181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394" y="1393031"/>
            <a:ext cx="414220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対象実機は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CrowPanel Advanced 7inch V1.1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8793"/>
            <a:ext cx="192881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256" y="1891643"/>
            <a:ext cx="4250531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使用するのは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example / V1.1 / idf-code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の公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式サンプル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67422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5825" y="2756706"/>
            <a:ext cx="345556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V1.2のSDK設定や配線前提を混ぜない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578644" y="3573214"/>
            <a:ext cx="4572000" cy="521494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578644" y="4087564"/>
            <a:ext cx="4572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8"/>
          <p:cNvSpPr/>
          <p:nvPr/>
        </p:nvSpPr>
        <p:spPr>
          <a:xfrm>
            <a:off x="578644" y="3573214"/>
            <a:ext cx="2289572" cy="5143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最初の画面確認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868216" y="3573214"/>
            <a:ext cx="2282428" cy="5143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最初のWi-Fi確認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78644" y="4087564"/>
            <a:ext cx="2289572" cy="678656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Lesson09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868216" y="4087564"/>
            <a:ext cx="2282428" cy="678656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Lesson17 / ESP32_P4-station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988" y="1768078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5844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開発環境はVS Codeに集約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464469"/>
            <a:ext cx="2281703" cy="2143125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84" y="1893094"/>
            <a:ext cx="1607344" cy="128587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8" y="1733810"/>
            <a:ext cx="200025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14738" y="1662373"/>
            <a:ext cx="4652479" cy="365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Studio Code + </a:t>
            </a:r>
            <a:r>
              <a:rPr lang="en-US" sz="16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Espressif ESP-IDF拡張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8" y="2313849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14738" y="2242412"/>
            <a:ext cx="3342382" cy="365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初回は </a:t>
            </a:r>
            <a:r>
              <a:rPr lang="en-US" sz="16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ESP-IDF v5.4.2系</a:t>
            </a: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を選択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838" y="2893888"/>
            <a:ext cx="200025" cy="200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614738" y="2822451"/>
            <a:ext cx="4941298" cy="372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4DB8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Doctor Command</a:t>
            </a: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で環境が正常なことを確認</a:t>
            </a:r>
            <a:endParaRPr lang="en-US" sz="1700" dirty="0"/>
          </a:p>
        </p:txBody>
      </p:sp>
      <p:sp>
        <p:nvSpPr>
          <p:cNvPr id="14" name="Shape 7"/>
          <p:cNvSpPr/>
          <p:nvPr/>
        </p:nvSpPr>
        <p:spPr>
          <a:xfrm>
            <a:off x="571500" y="3964781"/>
            <a:ext cx="8001000" cy="857250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750" y="4395192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41506" y="4388048"/>
            <a:ext cx="51967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正しいSDKバージョンが、最初の再現性を決める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Lesson09でHMIの土台を確認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1581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1538" y="1178719"/>
            <a:ext cx="2863416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ESP32-P4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</a:t>
            </a:r>
            <a:r>
              <a:rPr lang="en-US" sz="1400" b="1" dirty="0">
                <a:solidFill>
                  <a:srgbClr val="FF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C6ではない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30170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1587308"/>
            <a:ext cx="4436548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LCD、バックライト、GT911タッチを順に初期化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38759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1538" y="1995897"/>
            <a:ext cx="426264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画面に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LED Controller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と2ボタンが出れば成功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571500" y="2418773"/>
            <a:ext cx="3900488" cy="1630170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71500" y="2418773"/>
            <a:ext cx="3893344" cy="421481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571500" y="2833111"/>
            <a:ext cx="3893344" cy="714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25930"/>
            <a:ext cx="225028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5128" y="2490211"/>
            <a:ext cx="40005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986701"/>
            <a:ext cx="85725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42963" y="2986701"/>
            <a:ext cx="112441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LED Controller</a:t>
            </a:r>
            <a:endParaRPr lang="en-US" sz="12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32448"/>
            <a:ext cx="85725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42963" y="3332448"/>
            <a:ext cx="6383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LED ON</a:t>
            </a:r>
            <a:endParaRPr lang="en-US" sz="12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678194"/>
            <a:ext cx="85725" cy="1714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42963" y="3678194"/>
            <a:ext cx="7239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LED OFF</a:t>
            </a:r>
            <a:endParaRPr lang="en-US" sz="1250" dirty="0"/>
          </a:p>
        </p:txBody>
      </p:sp>
      <p:sp>
        <p:nvSpPr>
          <p:cNvPr id="23" name="Shape 13"/>
          <p:cNvSpPr/>
          <p:nvPr/>
        </p:nvSpPr>
        <p:spPr>
          <a:xfrm>
            <a:off x="4664869" y="2418773"/>
            <a:ext cx="3907631" cy="1608739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4672013" y="2418773"/>
            <a:ext cx="3900488" cy="421481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25" name="Shape 15"/>
          <p:cNvSpPr/>
          <p:nvPr/>
        </p:nvSpPr>
        <p:spPr>
          <a:xfrm>
            <a:off x="4672013" y="2833111"/>
            <a:ext cx="3900488" cy="714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888" y="2525930"/>
            <a:ext cx="225028" cy="20002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5641" y="2490211"/>
            <a:ext cx="122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シリアルログ</a:t>
            </a:r>
            <a:endParaRPr lang="en-US" sz="14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993845"/>
            <a:ext cx="85725" cy="17145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4943475" y="2936695"/>
            <a:ext cx="1760265" cy="28932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18"/>
          <p:cNvSpPr/>
          <p:nvPr/>
        </p:nvSpPr>
        <p:spPr>
          <a:xfrm>
            <a:off x="4943475" y="2936695"/>
            <a:ext cx="1760265" cy="2893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DB8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LCD init success</a:t>
            </a:r>
            <a:endParaRPr lang="en-US" sz="12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346735"/>
            <a:ext cx="85725" cy="17145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4943475" y="3289585"/>
            <a:ext cx="2583191" cy="28932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20"/>
          <p:cNvSpPr/>
          <p:nvPr/>
        </p:nvSpPr>
        <p:spPr>
          <a:xfrm>
            <a:off x="4943475" y="3289585"/>
            <a:ext cx="2583191" cy="2893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DB8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Touch panel init success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Wi-FiはP4とC6の協調動作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299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035844"/>
            <a:ext cx="3477667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ESP32-P4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で実行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84449"/>
            <a:ext cx="192881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256" y="1427299"/>
            <a:ext cx="388156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無線通信はオンボードの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ESP32-C6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を利用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75904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1818754"/>
            <a:ext cx="4727377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V1.1公式の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esp_hosted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esp_wifi_remote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を使う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1150144" y="2424522"/>
            <a:ext cx="1785938" cy="685800"/>
          </a:xfrm>
          <a:prstGeom prst="rect">
            <a:avLst/>
          </a:prstGeom>
          <a:solidFill>
            <a:srgbClr val="00B4D8">
              <a:alpha val="10000"/>
            </a:srgbClr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293019" y="2524534"/>
            <a:ext cx="15001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ESP32-P4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293019" y="2813856"/>
            <a:ext cx="1500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3132869" y="2665623"/>
            <a:ext cx="34931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SDIO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679031" y="2424522"/>
            <a:ext cx="1785938" cy="685800"/>
          </a:xfrm>
          <a:prstGeom prst="rect">
            <a:avLst/>
          </a:prstGeom>
          <a:solidFill>
            <a:srgbClr val="00B4D8">
              <a:alpha val="10000"/>
            </a:srgbClr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821906" y="2524534"/>
            <a:ext cx="15001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ESP32-C6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821906" y="2813856"/>
            <a:ext cx="1500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 コプロセッサ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693569" y="2647764"/>
            <a:ext cx="2857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無線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07919" y="2424522"/>
            <a:ext cx="1785938" cy="685800"/>
          </a:xfrm>
          <a:prstGeom prst="rect">
            <a:avLst/>
          </a:prstGeom>
          <a:solidFill>
            <a:srgbClr val="00695C">
              <a:alpha val="10000"/>
            </a:srgbClr>
          </a:solidFill>
          <a:ln w="18288">
            <a:solidFill>
              <a:srgbClr val="00695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350794" y="2510247"/>
            <a:ext cx="15001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 GHz Wi-Fi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350794" y="2799569"/>
            <a:ext cx="1500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71500" y="4318397"/>
            <a:ext cx="8001000" cy="539353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631" y="447198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042387" y="4464844"/>
            <a:ext cx="53949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一般的な単体ESP32用の「WiFi.h」を前提にしない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検証は「小さく、順番に」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8644" y="1257300"/>
            <a:ext cx="7986713" cy="450056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8644" y="1700213"/>
            <a:ext cx="7986713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578644" y="1257300"/>
            <a:ext cx="1197973" cy="442913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76617" y="1257300"/>
            <a:ext cx="3593976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70593" y="1257300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合格条件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8644" y="1700213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930" y="1835944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9536" y="1807369"/>
            <a:ext cx="153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ESP-IDF環境を導入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370593" y="1700213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Doctorが正常終了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8644" y="2153841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30" y="2289572"/>
            <a:ext cx="192881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90967" y="2260997"/>
            <a:ext cx="1436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Lesson09を書込み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370593" y="2153841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画面とタッチが動く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78644" y="2607469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930" y="2743200"/>
            <a:ext cx="214313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12398" y="2714625"/>
            <a:ext cx="1436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Lesson17を書込み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370593" y="2607469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got ip: が出る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78644" y="3061097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930" y="3196828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69536" y="3168253"/>
            <a:ext cx="1360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画面+Wi-Fiを統合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370593" y="3061097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同時に安定動作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78644" y="3514725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930" y="3650456"/>
            <a:ext cx="214313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312398" y="3621881"/>
            <a:ext cx="6703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Piと通信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370593" y="3514725"/>
            <a:ext cx="3194652" cy="410766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hello / ping / pong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78644" y="3968353"/>
            <a:ext cx="1190830" cy="446484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930" y="4104084"/>
            <a:ext cx="214313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312398" y="4075509"/>
            <a:ext cx="8478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AI会話表示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5370593" y="3968353"/>
            <a:ext cx="3194652" cy="442913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日本語カードを表示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つまずきやすいのは電源と接続先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5869"/>
            <a:ext cx="205885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0260" y="1178719"/>
            <a:ext cx="4323252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画面が不安定なら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V / 2 A以上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の安定電源を確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4492"/>
            <a:ext cx="20605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0428" y="1947342"/>
            <a:ext cx="432308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書込みは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UART0対応のUSB-to-UART接続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を使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73114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2715964"/>
            <a:ext cx="43148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COMポートが出なければ、まずUSBケーブルを疑う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571500" y="3770337"/>
            <a:ext cx="4672013" cy="785813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6" y="3909640"/>
            <a:ext cx="200025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338" y="3902497"/>
            <a:ext cx="3877494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「ビルド成功」と「実機安定動作」は別の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2607469" y="3902497"/>
            <a:ext cx="2492387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確認項目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288" y="1818084"/>
            <a:ext cx="25717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Wi-Fi資格情報は映さない・残さない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8744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1321594"/>
            <a:ext cx="415872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SSIDとパスワードは 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sdkconfig</a:t>
            </a: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に保存される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7355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8688" y="1820205"/>
            <a:ext cx="4436269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stationサンプルは</a:t>
            </a:r>
            <a:r>
              <a:rPr lang="en-US" sz="1400" b="1" dirty="0">
                <a:solidFill>
                  <a:srgbClr val="FF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接続情報をシリアルへ出力する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75967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2318817"/>
            <a:ext cx="575903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Git公開やYouTube撮影では、</a:t>
            </a:r>
            <a:r>
              <a:rPr lang="en-US" sz="14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ゲストSSIDとログのマスクを徹底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578644" y="3074603"/>
            <a:ext cx="7986713" cy="635794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578644" y="3703253"/>
            <a:ext cx="7986713" cy="714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376" y="3288916"/>
            <a:ext cx="225028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15560" y="3253197"/>
            <a:ext cx="204813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CrowPanelに置くもの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626" y="3288916"/>
            <a:ext cx="200025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599807" y="3253197"/>
            <a:ext cx="224849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Raspberry Piに置くもの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1624254" y="3881847"/>
            <a:ext cx="117609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Wi-Fi資格情報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2800350" y="3881847"/>
            <a:ext cx="7224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Pi接続先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4939401" y="3881847"/>
            <a:ext cx="195476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Manus/OpenAI APIキー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6894165" y="3881847"/>
            <a:ext cx="130730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会話履歴・ログ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最終形は「AI会話の表示HMI」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57300" y="1250156"/>
            <a:ext cx="3214688" cy="650081"/>
          </a:xfrm>
          <a:prstGeom prst="rect">
            <a:avLst/>
          </a:prstGeom>
          <a:solidFill>
            <a:srgbClr val="00695C">
              <a:alpha val="10000"/>
            </a:srgbClr>
          </a:solidFill>
          <a:ln w="18288">
            <a:solidFill>
              <a:srgbClr val="0069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00175" y="1357313"/>
            <a:ext cx="29289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Manus API / OpenAI 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0175" y="1589484"/>
            <a:ext cx="2928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クラウドAI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000375" y="1939528"/>
            <a:ext cx="4215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257300" y="2157413"/>
            <a:ext cx="3214688" cy="650081"/>
          </a:xfrm>
          <a:prstGeom prst="rect">
            <a:avLst/>
          </a:prstGeom>
          <a:solidFill>
            <a:srgbClr val="00B4D8">
              <a:alpha val="10000"/>
            </a:srgbClr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00175" y="2264569"/>
            <a:ext cx="29289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Raspberry Pi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00175" y="2496741"/>
            <a:ext cx="2928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会話制御・ログ・APIキー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000375" y="2846784"/>
            <a:ext cx="264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257300" y="3064669"/>
            <a:ext cx="3214688" cy="650081"/>
          </a:xfrm>
          <a:prstGeom prst="rect">
            <a:avLst/>
          </a:prstGeom>
          <a:solidFill>
            <a:srgbClr val="00B4D8">
              <a:alpha val="10000"/>
            </a:srgbClr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00175" y="3171825"/>
            <a:ext cx="29289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CrowPanel V1.1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00175" y="3403997"/>
            <a:ext cx="29289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LVGL表示・タッチ・状態表示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71913"/>
            <a:ext cx="142875" cy="1428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1531" y="3829050"/>
            <a:ext cx="309011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CrowPanelはクラウドAIを</a:t>
            </a:r>
            <a:r>
              <a:rPr lang="en-US" sz="12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直接呼ばない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3378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1531" y="4210515"/>
            <a:ext cx="394491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Raspberry Piが安全な</a:t>
            </a:r>
            <a:r>
              <a:rPr lang="en-US" sz="12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AIオーケストレーター</a:t>
            </a:r>
            <a:r>
              <a:rPr lang="en-US" sz="125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になる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988" y="1696641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この動画で目指す到達点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28675" y="2053828"/>
            <a:ext cx="41719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公式サンプルを使って、</a:t>
            </a: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最初の一歩を確実に成功させる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8675" y="3182541"/>
            <a:ext cx="417195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次回：</a:t>
            </a:r>
            <a:r>
              <a:rPr lang="en-US" sz="18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8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画面とWi-Fiを統合し、</a:t>
            </a:r>
            <a:r>
              <a:rPr lang="en-US" sz="18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r>
              <a:rPr lang="en-US" sz="18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Raspberry Piと通信する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3" y="1946672"/>
            <a:ext cx="3214688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4406"/>
            <a:ext cx="9144000" cy="7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公式資料と手順書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357313" y="1178719"/>
            <a:ext cx="6429375" cy="551464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318692"/>
            <a:ext cx="285750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14525" y="1264444"/>
            <a:ext cx="3519971" cy="365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Elecrow公式Wiki / V1.1コース資料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357313" y="1801620"/>
            <a:ext cx="6429375" cy="558608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8" y="1945165"/>
            <a:ext cx="285750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14525" y="1887345"/>
            <a:ext cx="5639321" cy="372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Elecrow公式GitHub：</a:t>
            </a:r>
            <a:r>
              <a:rPr lang="en-US" sz="1600" b="1" dirty="0">
                <a:solidFill>
                  <a:srgbClr val="4DB8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example / V1.1 / idf-code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1357313" y="2431666"/>
            <a:ext cx="6429375" cy="551464"/>
          </a:xfrm>
          <a:prstGeom prst="rect">
            <a:avLst/>
          </a:prstGeom>
          <a:solidFill>
            <a:srgbClr val="00B4D8">
              <a:alpha val="5000"/>
            </a:srgbClr>
          </a:solidFill>
          <a:ln w="9144">
            <a:solidFill>
              <a:srgbClr val="00B4D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8" y="2571638"/>
            <a:ext cx="285750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14525" y="2517391"/>
            <a:ext cx="4903850" cy="365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Espressif公式：ESP-IDF Extension for VS Code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1357313" y="3197442"/>
            <a:ext cx="6429375" cy="700088"/>
          </a:xfrm>
          <a:prstGeom prst="rect">
            <a:avLst/>
          </a:prstGeom>
          <a:solidFill>
            <a:srgbClr val="00695C">
              <a:alpha val="15000"/>
            </a:srgbClr>
          </a:solidFill>
          <a:ln w="18288">
            <a:solidFill>
              <a:srgbClr val="00695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272" y="3376036"/>
            <a:ext cx="250031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714179" y="3368892"/>
            <a:ext cx="410849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B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詳細な手順書は動画説明欄から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2026-08-19T22:20:03Z</dcterms:created>
  <dcterms:modified xsi:type="dcterms:W3CDTF">2026-08-19T22:20:03Z</dcterms:modified>
</cp:coreProperties>
</file>