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2.png"/><Relationship Id="rId5" Type="http://schemas.openxmlformats.org/officeDocument/2006/relationships/image" Target="../media/image-9-3.png"/><Relationship Id="rId6" Type="http://schemas.openxmlformats.org/officeDocument/2006/relationships/image" Target="../media/image-9-2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8.png"/><Relationship Id="rId11" Type="http://schemas.openxmlformats.org/officeDocument/2006/relationships/image" Target="../media/image-9-1.png"/><Relationship Id="rId12" Type="http://schemas.openxmlformats.org/officeDocument/2006/relationships/image" Target="../media/image-9-8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2.png"/><Relationship Id="rId4" Type="http://schemas.openxmlformats.org/officeDocument/2006/relationships/image" Target="../media/image-10-2.png"/><Relationship Id="rId5" Type="http://schemas.openxmlformats.org/officeDocument/2006/relationships/image" Target="../media/image-10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7.png"/><Relationship Id="rId9" Type="http://schemas.openxmlformats.org/officeDocument/2006/relationships/image" Target="../media/image-11-7.png"/><Relationship Id="rId10" Type="http://schemas.openxmlformats.org/officeDocument/2006/relationships/image" Target="../media/image-11-7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0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874520" cy="384048"/>
          </a:xfrm>
          <a:prstGeom prst="roundRect">
            <a:avLst>
              <a:gd name="adj" fmla="val 50000"/>
            </a:avLst>
          </a:prstGeom>
          <a:solidFill>
            <a:srgbClr val="0A5FB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GUIDE ／ 手順の全体像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9692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ESP-IDF を Visual Studio Code</a:t>
            </a:r>
            <a:endParaRPr lang="en-US" sz="40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で利用するまでの手順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66928" y="30632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FD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開発環境の構築 → ビルド → 書き込み → 動作確認 まで、ゼロから解説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0378440" y="594360"/>
            <a:ext cx="1051560" cy="1051560"/>
          </a:xfrm>
          <a:prstGeom prst="ellipse">
            <a:avLst/>
          </a:prstGeom>
          <a:solidFill>
            <a:srgbClr val="0A5FB4"/>
          </a:solidFill>
          <a:ln/>
        </p:spPr>
      </p:sp>
      <p:pic>
        <p:nvPicPr>
          <p:cNvPr id="7" name="Image 0" descr="/tmp/esp32p4_guide/icons/chip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9783" y="825703"/>
            <a:ext cx="588874" cy="58887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3703320"/>
            <a:ext cx="6400800" cy="1143000"/>
          </a:xfrm>
          <a:prstGeom prst="roundRect">
            <a:avLst>
              <a:gd name="adj" fmla="val 9600"/>
            </a:avLst>
          </a:prstGeom>
          <a:solidFill>
            <a:srgbClr val="15304A"/>
          </a:solidFill>
          <a:ln w="15875">
            <a:solidFill>
              <a:srgbClr val="0A5FB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3803904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FB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対象製品 / TARGET PRODUCT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77240" y="4059936"/>
            <a:ext cx="5989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CrowPanel Advanced 7inch | ESP32-P4 HMI AI Display 1024×600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5074920"/>
            <a:ext cx="1764792" cy="868680"/>
          </a:xfrm>
          <a:prstGeom prst="roundRect">
            <a:avLst>
              <a:gd name="adj" fmla="val 9474"/>
            </a:avLst>
          </a:prstGeom>
          <a:solidFill>
            <a:srgbClr val="15304A"/>
          </a:solidFill>
          <a:ln w="9525">
            <a:solidFill>
              <a:srgbClr val="23415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8368" y="5166360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FB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CHIP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658368" y="5422392"/>
            <a:ext cx="15453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ESP32-P4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2423160" y="5074920"/>
            <a:ext cx="1764792" cy="868680"/>
          </a:xfrm>
          <a:prstGeom prst="roundRect">
            <a:avLst>
              <a:gd name="adj" fmla="val 9474"/>
            </a:avLst>
          </a:prstGeom>
          <a:solidFill>
            <a:srgbClr val="15304A"/>
          </a:solidFill>
          <a:ln w="9525">
            <a:solidFill>
              <a:srgbClr val="2341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532888" y="5166360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FB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2532888" y="5422392"/>
            <a:ext cx="15453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MB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297680" y="5074920"/>
            <a:ext cx="1764792" cy="868680"/>
          </a:xfrm>
          <a:prstGeom prst="roundRect">
            <a:avLst>
              <a:gd name="adj" fmla="val 9474"/>
            </a:avLst>
          </a:prstGeom>
          <a:solidFill>
            <a:srgbClr val="15304A"/>
          </a:solidFill>
          <a:ln w="9525">
            <a:solidFill>
              <a:srgbClr val="23415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407408" y="5166360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FB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PSRAM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4407408" y="5422392"/>
            <a:ext cx="15453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MB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172200" y="5074920"/>
            <a:ext cx="1764792" cy="868680"/>
          </a:xfrm>
          <a:prstGeom prst="roundRect">
            <a:avLst>
              <a:gd name="adj" fmla="val 9474"/>
            </a:avLst>
          </a:prstGeom>
          <a:solidFill>
            <a:srgbClr val="15304A"/>
          </a:solidFill>
          <a:ln w="9525">
            <a:solidFill>
              <a:srgbClr val="23415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281928" y="5166360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FB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6281928" y="5422392"/>
            <a:ext cx="15453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1024×600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8046720" y="5074920"/>
            <a:ext cx="1764792" cy="868680"/>
          </a:xfrm>
          <a:prstGeom prst="roundRect">
            <a:avLst>
              <a:gd name="adj" fmla="val 9474"/>
            </a:avLst>
          </a:prstGeom>
          <a:solidFill>
            <a:srgbClr val="15304A"/>
          </a:solidFill>
          <a:ln w="9525">
            <a:solidFill>
              <a:srgbClr val="23415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156448" y="5166360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FB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156448" y="5422392"/>
            <a:ext cx="15453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静電容量式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9921240" y="5074920"/>
            <a:ext cx="1764792" cy="868680"/>
          </a:xfrm>
          <a:prstGeom prst="roundRect">
            <a:avLst>
              <a:gd name="adj" fmla="val 9474"/>
            </a:avLst>
          </a:prstGeom>
          <a:solidFill>
            <a:srgbClr val="15304A"/>
          </a:solidFill>
          <a:ln w="9525">
            <a:solidFill>
              <a:srgbClr val="23415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030968" y="5166360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FB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無線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10030968" y="5422392"/>
            <a:ext cx="15453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Wi-Fi6/BT5.3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8412480" y="6446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CrowPanel ESP32-P4 Setup Guide　|　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20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なぜ ESP-IDF + VS Code なのか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ESP32-P4 は 2026年8月時点で PlatformIO 未対応。Espressif公式環境が最も安定して全機能を扱える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38728" cy="4617720"/>
          </a:xfrm>
          <a:prstGeom prst="roundRect">
            <a:avLst>
              <a:gd name="adj" fmla="val 2584"/>
            </a:avLst>
          </a:prstGeom>
          <a:solidFill>
            <a:srgbClr val="FAFBFC"/>
          </a:solidFill>
          <a:ln w="12700">
            <a:solidFill>
              <a:srgbClr val="D7E2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33956" y="1892808"/>
            <a:ext cx="768096" cy="768096"/>
          </a:xfrm>
          <a:prstGeom prst="ellipse">
            <a:avLst/>
          </a:prstGeom>
          <a:solidFill>
            <a:srgbClr val="EAF2FB"/>
          </a:solidFill>
          <a:ln/>
        </p:spPr>
      </p:sp>
      <p:pic>
        <p:nvPicPr>
          <p:cNvPr id="6" name="Image 0" descr="/tmp/esp32p4_guide/icons/monitor_0A5F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6778" y="2065630"/>
            <a:ext cx="422453" cy="42245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807208"/>
            <a:ext cx="3172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D20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Arduino IDE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868680" y="3264408"/>
            <a:ext cx="2898648" cy="365760"/>
          </a:xfrm>
          <a:prstGeom prst="roundRect">
            <a:avLst>
              <a:gd name="adj" fmla="val 20000"/>
            </a:avLst>
          </a:prstGeom>
          <a:solidFill>
            <a:srgbClr val="FFF4E5"/>
          </a:solidFill>
          <a:ln/>
        </p:spPr>
      </p:sp>
      <p:sp>
        <p:nvSpPr>
          <p:cNvPr id="9" name="Text 6"/>
          <p:cNvSpPr/>
          <p:nvPr/>
        </p:nvSpPr>
        <p:spPr>
          <a:xfrm>
            <a:off x="868680" y="3264408"/>
            <a:ext cx="2898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△ 手軽だが機能制限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41248" y="3813048"/>
            <a:ext cx="299008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セットアップは簡単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ライブラリが豊富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低レイヤ制御や最新機能の活用にはやや不向き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43400" y="1600200"/>
            <a:ext cx="3538728" cy="4617720"/>
          </a:xfrm>
          <a:prstGeom prst="roundRect">
            <a:avLst>
              <a:gd name="adj" fmla="val 2584"/>
            </a:avLst>
          </a:prstGeom>
          <a:solidFill>
            <a:srgbClr val="FAFBFC"/>
          </a:solidFill>
          <a:ln w="12700">
            <a:solidFill>
              <a:srgbClr val="D7E2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728716" y="1892808"/>
            <a:ext cx="768096" cy="768096"/>
          </a:xfrm>
          <a:prstGeom prst="ellipse">
            <a:avLst/>
          </a:prstGeom>
          <a:solidFill>
            <a:srgbClr val="EAF2FB"/>
          </a:solidFill>
          <a:ln/>
        </p:spPr>
      </p:sp>
      <p:pic>
        <p:nvPicPr>
          <p:cNvPr id="13" name="Image 1" descr="/tmp/esp32p4_guide/icons/bug_0A5FB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1538" y="2065630"/>
            <a:ext cx="422453" cy="42245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26280" y="2807208"/>
            <a:ext cx="3172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D20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PlatformIO</a:t>
            </a:r>
            <a:endParaRPr lang="en-US" sz="1650" dirty="0"/>
          </a:p>
        </p:txBody>
      </p:sp>
      <p:sp>
        <p:nvSpPr>
          <p:cNvPr id="15" name="Shape 11"/>
          <p:cNvSpPr/>
          <p:nvPr/>
        </p:nvSpPr>
        <p:spPr>
          <a:xfrm>
            <a:off x="4663440" y="3264408"/>
            <a:ext cx="2898648" cy="365760"/>
          </a:xfrm>
          <a:prstGeom prst="roundRect">
            <a:avLst>
              <a:gd name="adj" fmla="val 20000"/>
            </a:avLst>
          </a:prstGeom>
          <a:solidFill>
            <a:srgbClr val="FBEAEA"/>
          </a:solidFill>
          <a:ln/>
        </p:spPr>
      </p:sp>
      <p:sp>
        <p:nvSpPr>
          <p:cNvPr id="16" name="Text 12"/>
          <p:cNvSpPr/>
          <p:nvPr/>
        </p:nvSpPr>
        <p:spPr>
          <a:xfrm>
            <a:off x="4663440" y="3264408"/>
            <a:ext cx="2898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ESP32-P4 未対応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636008" y="3813048"/>
            <a:ext cx="299008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Code拡張として人気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/ S3 等は対応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ESP32-P4は公式サポート対象外（2026年8月時点）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8138160" y="1600200"/>
            <a:ext cx="3538728" cy="4617720"/>
          </a:xfrm>
          <a:prstGeom prst="roundRect">
            <a:avLst>
              <a:gd name="adj" fmla="val 2584"/>
            </a:avLst>
          </a:prstGeom>
          <a:solidFill>
            <a:srgbClr val="F4FBF7"/>
          </a:solidFill>
          <a:ln w="22225">
            <a:solidFill>
              <a:srgbClr val="02C39A"/>
            </a:solidFill>
            <a:prstDash val="solid"/>
          </a:ln>
          <a:effectLst>
            <a:outerShdw sx="100000" sy="100000" kx="0" ky="0" algn="bl" rotWithShape="0" blurRad="127000" dist="38100" dir="5400000">
              <a:srgbClr val="1C7293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523476" y="1892808"/>
            <a:ext cx="768096" cy="768096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0" name="Image 2" descr="/tmp/esp32p4_guide/icons/check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6298" y="2065630"/>
            <a:ext cx="422453" cy="422453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321040" y="2807208"/>
            <a:ext cx="3172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D20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ESP-IDF + VS Code</a:t>
            </a:r>
            <a:endParaRPr lang="en-US" sz="1650" dirty="0"/>
          </a:p>
        </p:txBody>
      </p:sp>
      <p:sp>
        <p:nvSpPr>
          <p:cNvPr id="22" name="Shape 17"/>
          <p:cNvSpPr/>
          <p:nvPr/>
        </p:nvSpPr>
        <p:spPr>
          <a:xfrm>
            <a:off x="8458200" y="3264408"/>
            <a:ext cx="2898648" cy="365760"/>
          </a:xfrm>
          <a:prstGeom prst="roundRect">
            <a:avLst>
              <a:gd name="adj" fmla="val 20000"/>
            </a:avLst>
          </a:prstGeom>
          <a:solidFill>
            <a:srgbClr val="EEFAF1"/>
          </a:solidFill>
          <a:ln/>
        </p:spPr>
      </p:sp>
      <p:sp>
        <p:nvSpPr>
          <p:cNvPr id="23" name="Text 18"/>
          <p:cNvSpPr/>
          <p:nvPr/>
        </p:nvSpPr>
        <p:spPr>
          <a:xfrm>
            <a:off x="8458200" y="3264408"/>
            <a:ext cx="2898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本手順で採用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8430768" y="3813048"/>
            <a:ext cx="299008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Espressif公式のネイティブ開発環境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MIPI-DSI・PSRAM等の全機能にフルアクセス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本書・本動画で解説する構成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7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× VS Code セットアップガイド  |  CrowPanel Advanced 7inch (ESP32-P4)</a:t>
            </a:r>
            <a:endParaRPr lang="en-US" sz="850" dirty="0"/>
          </a:p>
        </p:txBody>
      </p:sp>
      <p:sp>
        <p:nvSpPr>
          <p:cNvPr id="26" name="Text 21"/>
          <p:cNvSpPr/>
          <p:nvPr/>
        </p:nvSpPr>
        <p:spPr>
          <a:xfrm>
            <a:off x="11338560" y="6547104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7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20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セットアップの全体像 — 6つのフェーズ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①から⑥まで順番に進めれば、迷わずビルド〜書き込みまで到達できます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547872" cy="2212848"/>
          </a:xfrm>
          <a:prstGeom prst="roundRect">
            <a:avLst>
              <a:gd name="adj" fmla="val 4132"/>
            </a:avLst>
          </a:prstGeom>
          <a:solidFill>
            <a:srgbClr val="FAFBFC"/>
          </a:solidFill>
          <a:ln w="12700">
            <a:solidFill>
              <a:srgbClr val="D7E2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645920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255264" y="1627632"/>
            <a:ext cx="566928" cy="566928"/>
          </a:xfrm>
          <a:prstGeom prst="ellipse">
            <a:avLst/>
          </a:prstGeom>
          <a:solidFill>
            <a:srgbClr val="EAF2FB"/>
          </a:solidFill>
          <a:ln/>
        </p:spPr>
      </p:sp>
      <p:pic>
        <p:nvPicPr>
          <p:cNvPr id="8" name="Image 0" descr="/tmp/esp32p4_guide/icons/clipboard_0A5F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2823" y="1755191"/>
            <a:ext cx="311810" cy="31181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219456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0D20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事前準備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31520" y="2779776"/>
            <a:ext cx="3182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ハードウェア・PC環境の確認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31520" y="3310128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2" name="Text 9"/>
          <p:cNvSpPr/>
          <p:nvPr/>
        </p:nvSpPr>
        <p:spPr>
          <a:xfrm>
            <a:off x="731520" y="33101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A5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目安 5分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4315968" y="1481328"/>
            <a:ext cx="3547872" cy="2212848"/>
          </a:xfrm>
          <a:prstGeom prst="roundRect">
            <a:avLst>
              <a:gd name="adj" fmla="val 4132"/>
            </a:avLst>
          </a:prstGeom>
          <a:solidFill>
            <a:srgbClr val="FAFBFC"/>
          </a:solidFill>
          <a:ln w="12700">
            <a:solidFill>
              <a:srgbClr val="D7E2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80560" y="1645920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5" name="Text 12"/>
          <p:cNvSpPr/>
          <p:nvPr/>
        </p:nvSpPr>
        <p:spPr>
          <a:xfrm>
            <a:off x="448056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022592" y="1627632"/>
            <a:ext cx="566928" cy="566928"/>
          </a:xfrm>
          <a:prstGeom prst="ellipse">
            <a:avLst/>
          </a:prstGeom>
          <a:solidFill>
            <a:srgbClr val="EAF2FB"/>
          </a:solidFill>
          <a:ln/>
        </p:spPr>
      </p:sp>
      <p:pic>
        <p:nvPicPr>
          <p:cNvPr id="17" name="Image 1" descr="/tmp/esp32p4_guide/icons/vscode_0A5FB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151" y="1755191"/>
            <a:ext cx="311810" cy="31181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498848" y="219456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0D20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VS Code インストール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4498848" y="2779776"/>
            <a:ext cx="3182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エディタ本体を導入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4498848" y="3310128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21" name="Text 17"/>
          <p:cNvSpPr/>
          <p:nvPr/>
        </p:nvSpPr>
        <p:spPr>
          <a:xfrm>
            <a:off x="4498848" y="33101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A5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目安 5分</a:t>
            </a:r>
            <a:endParaRPr lang="en-US" sz="880" dirty="0"/>
          </a:p>
        </p:txBody>
      </p:sp>
      <p:sp>
        <p:nvSpPr>
          <p:cNvPr id="22" name="Shape 18"/>
          <p:cNvSpPr/>
          <p:nvPr/>
        </p:nvSpPr>
        <p:spPr>
          <a:xfrm>
            <a:off x="8083296" y="1481328"/>
            <a:ext cx="3547872" cy="2212848"/>
          </a:xfrm>
          <a:prstGeom prst="roundRect">
            <a:avLst>
              <a:gd name="adj" fmla="val 4132"/>
            </a:avLst>
          </a:prstGeom>
          <a:solidFill>
            <a:srgbClr val="FAFBFC"/>
          </a:solidFill>
          <a:ln w="12700">
            <a:solidFill>
              <a:srgbClr val="D7E2EC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247888" y="1645920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4" name="Text 20"/>
          <p:cNvSpPr/>
          <p:nvPr/>
        </p:nvSpPr>
        <p:spPr>
          <a:xfrm>
            <a:off x="8247888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10789920" y="1627632"/>
            <a:ext cx="566928" cy="566928"/>
          </a:xfrm>
          <a:prstGeom prst="ellipse">
            <a:avLst/>
          </a:prstGeom>
          <a:solidFill>
            <a:srgbClr val="EAF2FB"/>
          </a:solidFill>
          <a:ln/>
        </p:spPr>
      </p:sp>
      <p:pic>
        <p:nvPicPr>
          <p:cNvPr id="26" name="Image 2" descr="/tmp/esp32p4_guide/icons/usb_0A5FB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7479" y="1755191"/>
            <a:ext cx="311810" cy="31181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8266176" y="219456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0D20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USBドライバ導入</a:t>
            </a:r>
            <a:endParaRPr lang="en-US" sz="1450" dirty="0"/>
          </a:p>
        </p:txBody>
      </p:sp>
      <p:sp>
        <p:nvSpPr>
          <p:cNvPr id="28" name="Text 23"/>
          <p:cNvSpPr/>
          <p:nvPr/>
        </p:nvSpPr>
        <p:spPr>
          <a:xfrm>
            <a:off x="8266176" y="2779776"/>
            <a:ext cx="3182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CH341ドライバをインストール</a:t>
            </a:r>
            <a:endParaRPr lang="en-US" sz="1050" dirty="0"/>
          </a:p>
        </p:txBody>
      </p:sp>
      <p:sp>
        <p:nvSpPr>
          <p:cNvPr id="29" name="Shape 24"/>
          <p:cNvSpPr/>
          <p:nvPr/>
        </p:nvSpPr>
        <p:spPr>
          <a:xfrm>
            <a:off x="8266176" y="3310128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30" name="Text 25"/>
          <p:cNvSpPr/>
          <p:nvPr/>
        </p:nvSpPr>
        <p:spPr>
          <a:xfrm>
            <a:off x="8266176" y="33101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A5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目安 5〜10分</a:t>
            </a:r>
            <a:endParaRPr lang="en-US" sz="880" dirty="0"/>
          </a:p>
        </p:txBody>
      </p:sp>
      <p:sp>
        <p:nvSpPr>
          <p:cNvPr id="31" name="Shape 26"/>
          <p:cNvSpPr/>
          <p:nvPr/>
        </p:nvSpPr>
        <p:spPr>
          <a:xfrm>
            <a:off x="548640" y="3950208"/>
            <a:ext cx="3547872" cy="2212848"/>
          </a:xfrm>
          <a:prstGeom prst="roundRect">
            <a:avLst>
              <a:gd name="adj" fmla="val 4132"/>
            </a:avLst>
          </a:prstGeom>
          <a:solidFill>
            <a:srgbClr val="FAFBFC"/>
          </a:solidFill>
          <a:ln w="12700">
            <a:solidFill>
              <a:srgbClr val="D7E2EC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713232" y="4114800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3" name="Text 28"/>
          <p:cNvSpPr/>
          <p:nvPr/>
        </p:nvSpPr>
        <p:spPr>
          <a:xfrm>
            <a:off x="713232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Shape 29"/>
          <p:cNvSpPr/>
          <p:nvPr/>
        </p:nvSpPr>
        <p:spPr>
          <a:xfrm>
            <a:off x="3255264" y="4096512"/>
            <a:ext cx="566928" cy="566928"/>
          </a:xfrm>
          <a:prstGeom prst="ellipse">
            <a:avLst/>
          </a:prstGeom>
          <a:solidFill>
            <a:srgbClr val="EAF2FB"/>
          </a:solidFill>
          <a:ln/>
        </p:spPr>
      </p:sp>
      <p:pic>
        <p:nvPicPr>
          <p:cNvPr id="35" name="Image 3" descr="/tmp/esp32p4_guide/icons/puzzle_0A5FB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2823" y="4224071"/>
            <a:ext cx="311810" cy="311810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731520" y="466344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0D20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ESP-IDF拡張機能</a:t>
            </a:r>
            <a:endParaRPr lang="en-US" sz="1450" dirty="0"/>
          </a:p>
        </p:txBody>
      </p:sp>
      <p:sp>
        <p:nvSpPr>
          <p:cNvPr id="37" name="Text 31"/>
          <p:cNvSpPr/>
          <p:nvPr/>
        </p:nvSpPr>
        <p:spPr>
          <a:xfrm>
            <a:off x="731520" y="5248656"/>
            <a:ext cx="3182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Code拡張機能を追加</a:t>
            </a:r>
            <a:endParaRPr lang="en-US" sz="1050" dirty="0"/>
          </a:p>
        </p:txBody>
      </p:sp>
      <p:sp>
        <p:nvSpPr>
          <p:cNvPr id="38" name="Shape 32"/>
          <p:cNvSpPr/>
          <p:nvPr/>
        </p:nvSpPr>
        <p:spPr>
          <a:xfrm>
            <a:off x="731520" y="5779008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39" name="Text 33"/>
          <p:cNvSpPr/>
          <p:nvPr/>
        </p:nvSpPr>
        <p:spPr>
          <a:xfrm>
            <a:off x="731520" y="57790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A5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目安 2分</a:t>
            </a:r>
            <a:endParaRPr lang="en-US" sz="880" dirty="0"/>
          </a:p>
        </p:txBody>
      </p:sp>
      <p:sp>
        <p:nvSpPr>
          <p:cNvPr id="40" name="Shape 34"/>
          <p:cNvSpPr/>
          <p:nvPr/>
        </p:nvSpPr>
        <p:spPr>
          <a:xfrm>
            <a:off x="4315968" y="3950208"/>
            <a:ext cx="3547872" cy="2212848"/>
          </a:xfrm>
          <a:prstGeom prst="roundRect">
            <a:avLst>
              <a:gd name="adj" fmla="val 4132"/>
            </a:avLst>
          </a:prstGeom>
          <a:solidFill>
            <a:srgbClr val="FAFBFC"/>
          </a:solidFill>
          <a:ln w="12700">
            <a:solidFill>
              <a:srgbClr val="D7E2EC"/>
            </a:solidFill>
            <a:prstDash val="solid"/>
          </a:ln>
        </p:spPr>
      </p:sp>
      <p:sp>
        <p:nvSpPr>
          <p:cNvPr id="41" name="Shape 35"/>
          <p:cNvSpPr/>
          <p:nvPr/>
        </p:nvSpPr>
        <p:spPr>
          <a:xfrm>
            <a:off x="4480560" y="4114800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42" name="Text 36"/>
          <p:cNvSpPr/>
          <p:nvPr/>
        </p:nvSpPr>
        <p:spPr>
          <a:xfrm>
            <a:off x="4480560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1500" dirty="0"/>
          </a:p>
        </p:txBody>
      </p:sp>
      <p:sp>
        <p:nvSpPr>
          <p:cNvPr id="43" name="Shape 37"/>
          <p:cNvSpPr/>
          <p:nvPr/>
        </p:nvSpPr>
        <p:spPr>
          <a:xfrm>
            <a:off x="7022592" y="4096512"/>
            <a:ext cx="566928" cy="566928"/>
          </a:xfrm>
          <a:prstGeom prst="ellipse">
            <a:avLst/>
          </a:prstGeom>
          <a:solidFill>
            <a:srgbClr val="EAF2FB"/>
          </a:solidFill>
          <a:ln/>
        </p:spPr>
      </p:sp>
      <p:pic>
        <p:nvPicPr>
          <p:cNvPr id="44" name="Image 4" descr="/tmp/esp32p4_guide/icons/cloud_0A5FB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151" y="4224071"/>
            <a:ext cx="311810" cy="311810"/>
          </a:xfrm>
          <a:prstGeom prst="rect">
            <a:avLst/>
          </a:prstGeom>
        </p:spPr>
      </p:pic>
      <p:sp>
        <p:nvSpPr>
          <p:cNvPr id="45" name="Text 38"/>
          <p:cNvSpPr/>
          <p:nvPr/>
        </p:nvSpPr>
        <p:spPr>
          <a:xfrm>
            <a:off x="4498848" y="466344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0D20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ESP-IDF本体セットアップ</a:t>
            </a:r>
            <a:endParaRPr lang="en-US" sz="1450" dirty="0"/>
          </a:p>
        </p:txBody>
      </p:sp>
      <p:sp>
        <p:nvSpPr>
          <p:cNvPr id="46" name="Text 39"/>
          <p:cNvSpPr/>
          <p:nvPr/>
        </p:nvSpPr>
        <p:spPr>
          <a:xfrm>
            <a:off x="4498848" y="5248656"/>
            <a:ext cx="3182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Managerで導入(v5.4.2)</a:t>
            </a:r>
            <a:endParaRPr lang="en-US" sz="1050" dirty="0"/>
          </a:p>
        </p:txBody>
      </p:sp>
      <p:sp>
        <p:nvSpPr>
          <p:cNvPr id="47" name="Shape 40"/>
          <p:cNvSpPr/>
          <p:nvPr/>
        </p:nvSpPr>
        <p:spPr>
          <a:xfrm>
            <a:off x="4498848" y="5779008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48" name="Text 41"/>
          <p:cNvSpPr/>
          <p:nvPr/>
        </p:nvSpPr>
        <p:spPr>
          <a:xfrm>
            <a:off x="4498848" y="57790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A5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目安 15〜40分</a:t>
            </a:r>
            <a:endParaRPr lang="en-US" sz="880" dirty="0"/>
          </a:p>
        </p:txBody>
      </p:sp>
      <p:sp>
        <p:nvSpPr>
          <p:cNvPr id="49" name="Shape 42"/>
          <p:cNvSpPr/>
          <p:nvPr/>
        </p:nvSpPr>
        <p:spPr>
          <a:xfrm>
            <a:off x="8083296" y="3950208"/>
            <a:ext cx="3547872" cy="2212848"/>
          </a:xfrm>
          <a:prstGeom prst="roundRect">
            <a:avLst>
              <a:gd name="adj" fmla="val 4132"/>
            </a:avLst>
          </a:prstGeom>
          <a:solidFill>
            <a:srgbClr val="FAFBFC"/>
          </a:solidFill>
          <a:ln w="12700">
            <a:solidFill>
              <a:srgbClr val="D7E2EC"/>
            </a:solidFill>
            <a:prstDash val="solid"/>
          </a:ln>
        </p:spPr>
      </p:sp>
      <p:sp>
        <p:nvSpPr>
          <p:cNvPr id="50" name="Shape 43"/>
          <p:cNvSpPr/>
          <p:nvPr/>
        </p:nvSpPr>
        <p:spPr>
          <a:xfrm>
            <a:off x="8247888" y="4114800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51" name="Text 44"/>
          <p:cNvSpPr/>
          <p:nvPr/>
        </p:nvSpPr>
        <p:spPr>
          <a:xfrm>
            <a:off x="8247888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6</a:t>
            </a:r>
            <a:endParaRPr lang="en-US" sz="1500" dirty="0"/>
          </a:p>
        </p:txBody>
      </p:sp>
      <p:sp>
        <p:nvSpPr>
          <p:cNvPr id="52" name="Shape 45"/>
          <p:cNvSpPr/>
          <p:nvPr/>
        </p:nvSpPr>
        <p:spPr>
          <a:xfrm>
            <a:off x="10789920" y="4096512"/>
            <a:ext cx="566928" cy="566928"/>
          </a:xfrm>
          <a:prstGeom prst="ellipse">
            <a:avLst/>
          </a:prstGeom>
          <a:solidFill>
            <a:srgbClr val="EAF2FB"/>
          </a:solidFill>
          <a:ln/>
        </p:spPr>
      </p:sp>
      <p:pic>
        <p:nvPicPr>
          <p:cNvPr id="53" name="Image 5" descr="/tmp/esp32p4_guide/icons/bolt_0A5FB4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17479" y="4224071"/>
            <a:ext cx="311810" cy="311810"/>
          </a:xfrm>
          <a:prstGeom prst="rect">
            <a:avLst/>
          </a:prstGeom>
        </p:spPr>
      </p:pic>
      <p:sp>
        <p:nvSpPr>
          <p:cNvPr id="54" name="Text 46"/>
          <p:cNvSpPr/>
          <p:nvPr/>
        </p:nvSpPr>
        <p:spPr>
          <a:xfrm>
            <a:off x="8266176" y="466344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0D20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ビルド・書き込み・確認</a:t>
            </a:r>
            <a:endParaRPr lang="en-US" sz="1450" dirty="0"/>
          </a:p>
        </p:txBody>
      </p:sp>
      <p:sp>
        <p:nvSpPr>
          <p:cNvPr id="55" name="Text 47"/>
          <p:cNvSpPr/>
          <p:nvPr/>
        </p:nvSpPr>
        <p:spPr>
          <a:xfrm>
            <a:off x="8266176" y="5248656"/>
            <a:ext cx="3182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サンプルを動かして動作確認</a:t>
            </a:r>
            <a:endParaRPr lang="en-US" sz="1050" dirty="0"/>
          </a:p>
        </p:txBody>
      </p:sp>
      <p:sp>
        <p:nvSpPr>
          <p:cNvPr id="56" name="Shape 48"/>
          <p:cNvSpPr/>
          <p:nvPr/>
        </p:nvSpPr>
        <p:spPr>
          <a:xfrm>
            <a:off x="8266176" y="5779008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57" name="Text 49"/>
          <p:cNvSpPr/>
          <p:nvPr/>
        </p:nvSpPr>
        <p:spPr>
          <a:xfrm>
            <a:off x="8266176" y="57790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A5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目安 10〜15分</a:t>
            </a:r>
            <a:endParaRPr lang="en-US" sz="880" dirty="0"/>
          </a:p>
        </p:txBody>
      </p:sp>
      <p:sp>
        <p:nvSpPr>
          <p:cNvPr id="58" name="Text 50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7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× VS Code セットアップガイド  |  CrowPanel Advanced 7inch (ESP32-P4)</a:t>
            </a:r>
            <a:endParaRPr lang="en-US" sz="850" dirty="0"/>
          </a:p>
        </p:txBody>
      </p:sp>
      <p:sp>
        <p:nvSpPr>
          <p:cNvPr id="59" name="Text 51"/>
          <p:cNvSpPr/>
          <p:nvPr/>
        </p:nvSpPr>
        <p:spPr>
          <a:xfrm>
            <a:off x="11338560" y="6547104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7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0A5FB4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D20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事前準備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234440" y="859536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0A5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835640" y="384048"/>
            <a:ext cx="713232" cy="713232"/>
          </a:xfrm>
          <a:prstGeom prst="ellipse">
            <a:avLst/>
          </a:prstGeom>
          <a:solidFill>
            <a:srgbClr val="EAF2FB"/>
          </a:solidFill>
          <a:ln/>
        </p:spPr>
      </p:sp>
      <p:pic>
        <p:nvPicPr>
          <p:cNvPr id="7" name="Image 0" descr="/tmp/esp32p4_guide/icons/clipboard_0A5F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6117" y="544525"/>
            <a:ext cx="392278" cy="39227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508760"/>
            <a:ext cx="5120640" cy="3520440"/>
          </a:xfrm>
          <a:prstGeom prst="roundRect">
            <a:avLst>
              <a:gd name="adj" fmla="val 2597"/>
            </a:avLst>
          </a:prstGeom>
          <a:solidFill>
            <a:srgbClr val="FAFBFC"/>
          </a:solidFill>
          <a:ln w="12700">
            <a:solidFill>
              <a:srgbClr val="D7E2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709928"/>
            <a:ext cx="4608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20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必要なハードウェア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22960" y="2249424"/>
            <a:ext cx="219456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22225">
            <a:solidFill>
              <a:srgbClr val="0A5FB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70432" y="217627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CrowPanel Advanced 7inch（ESP32-P4）本体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22960" y="3145536"/>
            <a:ext cx="219456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22225">
            <a:solidFill>
              <a:srgbClr val="0A5FB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170432" y="3072384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Type-Cケーブル（データ通信対応。充電専用ケーブルは不可）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22960" y="4041648"/>
            <a:ext cx="219456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22225">
            <a:solidFill>
              <a:srgbClr val="0A5FB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70432" y="3968496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（推奨）USB-C ACアダプタ、または十分な給電能力を持つUSBハブ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897880" y="1508760"/>
            <a:ext cx="5394960" cy="3520440"/>
          </a:xfrm>
          <a:prstGeom prst="roundRect">
            <a:avLst>
              <a:gd name="adj" fmla="val 2597"/>
            </a:avLst>
          </a:prstGeom>
          <a:solidFill>
            <a:srgbClr val="FAFBFC"/>
          </a:solidFill>
          <a:ln w="12700">
            <a:solidFill>
              <a:srgbClr val="D7E2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53912" y="1709928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20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PC環境の要件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153912" y="222199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A5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001000" y="222199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10/11、macOS、Linux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153912" y="2770632"/>
            <a:ext cx="4882896" cy="0"/>
          </a:xfrm>
          <a:prstGeom prst="line">
            <a:avLst/>
          </a:prstGeom>
          <a:noFill/>
          <a:ln w="9525">
            <a:solidFill>
              <a:srgbClr val="D7E2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153912" y="291693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A5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ディスク空き容量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8001000" y="2916936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10GB以上（ツールチェーン一式）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153912" y="3465576"/>
            <a:ext cx="4882896" cy="0"/>
          </a:xfrm>
          <a:prstGeom prst="line">
            <a:avLst/>
          </a:prstGeom>
          <a:noFill/>
          <a:ln w="9525">
            <a:solidFill>
              <a:srgbClr val="D7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153912" y="361188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A5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ネットワーク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001000" y="361188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ブロードバンド推奨（初回数GB）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153912" y="4160520"/>
            <a:ext cx="4882896" cy="0"/>
          </a:xfrm>
          <a:prstGeom prst="line">
            <a:avLst/>
          </a:prstGeom>
          <a:noFill/>
          <a:ln w="9525">
            <a:solidFill>
              <a:srgbClr val="D7E2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153912" y="4306824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A5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権限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8001000" y="430682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管理者権限が必要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153912" y="4855464"/>
            <a:ext cx="4882896" cy="0"/>
          </a:xfrm>
          <a:prstGeom prst="line">
            <a:avLst/>
          </a:prstGeom>
          <a:noFill/>
          <a:ln w="9525">
            <a:solidFill>
              <a:srgbClr val="D7E2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48640" y="5166360"/>
            <a:ext cx="10725912" cy="1051560"/>
          </a:xfrm>
          <a:prstGeom prst="roundRect">
            <a:avLst>
              <a:gd name="adj" fmla="val 6957"/>
            </a:avLst>
          </a:prstGeom>
          <a:solidFill>
            <a:srgbClr val="FFF4E5"/>
          </a:solidFill>
          <a:ln w="12700">
            <a:solidFill>
              <a:srgbClr val="F3C987"/>
            </a:solidFill>
            <a:prstDash val="solid"/>
          </a:ln>
        </p:spPr>
      </p:sp>
      <p:pic>
        <p:nvPicPr>
          <p:cNvPr id="31" name="Image 1" descr="/tmp/esp32p4_guide/icons/warning_0D203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5294376"/>
            <a:ext cx="256032" cy="256032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1051560" y="5257800"/>
            <a:ext cx="10085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電源に関する注意</a:t>
            </a:r>
            <a:endParaRPr lang="en-US" sz="1150" dirty="0"/>
          </a:p>
        </p:txBody>
      </p:sp>
      <p:sp>
        <p:nvSpPr>
          <p:cNvPr id="33" name="Text 29"/>
          <p:cNvSpPr/>
          <p:nvPr/>
        </p:nvSpPr>
        <p:spPr>
          <a:xfrm>
            <a:off x="768096" y="5568696"/>
            <a:ext cx="10287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本製品は動作時に約8〜10Wの電力を必要とします。PCのUSBポートからの給電のみでは不足し、画面が真っ暗になったり再起動を繰り返すことがあります。安定しない場合はUSB-C ACアダプタ等からの給電に切り替えてください。</a:t>
            </a:r>
            <a:endParaRPr lang="en-US" sz="1000" dirty="0"/>
          </a:p>
        </p:txBody>
      </p:sp>
      <p:sp>
        <p:nvSpPr>
          <p:cNvPr id="34" name="Text 30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7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× VS Code セットアップガイド  |  CrowPanel Advanced 7inch (ESP32-P4)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11338560" y="6547104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7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0A5FB4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D20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Visual Studio Code のインストール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234440" y="859536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0A5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VS CODE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835640" y="384048"/>
            <a:ext cx="713232" cy="713232"/>
          </a:xfrm>
          <a:prstGeom prst="ellipse">
            <a:avLst/>
          </a:prstGeom>
          <a:solidFill>
            <a:srgbClr val="EAF2FB"/>
          </a:solidFill>
          <a:ln/>
        </p:spPr>
      </p:sp>
      <p:pic>
        <p:nvPicPr>
          <p:cNvPr id="7" name="Image 0" descr="/tmp/esp32p4_guide/icons/vscode_0A5F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6117" y="544525"/>
            <a:ext cx="392278" cy="39227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0A5FB4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060704" y="1709928"/>
            <a:ext cx="5065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公式サイト code.visualstudio.com にアクセスし、使用OSに対応したインストーラをダウンロードする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834640"/>
            <a:ext cx="365760" cy="365760"/>
          </a:xfrm>
          <a:prstGeom prst="ellipse">
            <a:avLst/>
          </a:prstGeom>
          <a:solidFill>
            <a:srgbClr val="0A5FB4"/>
          </a:solidFill>
          <a:ln/>
        </p:spPr>
      </p:sp>
      <p:sp>
        <p:nvSpPr>
          <p:cNvPr id="12" name="Text 9"/>
          <p:cNvSpPr/>
          <p:nvPr/>
        </p:nvSpPr>
        <p:spPr>
          <a:xfrm>
            <a:off x="548640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060704" y="2807208"/>
            <a:ext cx="5065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ダウンロードしたインストーラを実行し、画面の指示に従ってインストールする（基本は既定設定のままでOK）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3931920"/>
            <a:ext cx="365760" cy="365760"/>
          </a:xfrm>
          <a:prstGeom prst="ellipse">
            <a:avLst/>
          </a:prstGeom>
          <a:solidFill>
            <a:srgbClr val="0A5FB4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060704" y="3904488"/>
            <a:ext cx="5065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インストール完了後にVS Codeを起動し、ウェルカム画面が表示されることを確認する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537960" y="1737360"/>
            <a:ext cx="4754880" cy="3246120"/>
          </a:xfrm>
          <a:prstGeom prst="roundRect">
            <a:avLst>
              <a:gd name="adj" fmla="val 3380"/>
            </a:avLst>
          </a:prstGeom>
          <a:solidFill>
            <a:srgbClr val="0D2036"/>
          </a:solidFill>
          <a:ln/>
        </p:spPr>
      </p:sp>
      <p:sp>
        <p:nvSpPr>
          <p:cNvPr id="18" name="Shape 15"/>
          <p:cNvSpPr/>
          <p:nvPr/>
        </p:nvSpPr>
        <p:spPr>
          <a:xfrm>
            <a:off x="6858000" y="2057400"/>
            <a:ext cx="4114800" cy="457200"/>
          </a:xfrm>
          <a:prstGeom prst="roundRect">
            <a:avLst>
              <a:gd name="adj" fmla="val 50000"/>
            </a:avLst>
          </a:prstGeom>
          <a:solidFill>
            <a:srgbClr val="15304A"/>
          </a:solidFill>
          <a:ln w="12700">
            <a:solidFill>
              <a:srgbClr val="2C4E7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040880" y="20574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code.visualstudio.com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858000" y="2788920"/>
            <a:ext cx="4114800" cy="868680"/>
          </a:xfrm>
          <a:prstGeom prst="roundRect">
            <a:avLst>
              <a:gd name="adj" fmla="val 10526"/>
            </a:avLst>
          </a:prstGeom>
          <a:solidFill>
            <a:srgbClr val="0A5FB4"/>
          </a:solidFill>
          <a:ln/>
        </p:spPr>
      </p:sp>
      <p:sp>
        <p:nvSpPr>
          <p:cNvPr id="21" name="Shape 18"/>
          <p:cNvSpPr/>
          <p:nvPr/>
        </p:nvSpPr>
        <p:spPr>
          <a:xfrm>
            <a:off x="8659368" y="2907792"/>
            <a:ext cx="621792" cy="621792"/>
          </a:xfrm>
          <a:prstGeom prst="ellipse">
            <a:avLst/>
          </a:prstGeom>
          <a:solidFill>
            <a:srgbClr val="0D2036"/>
          </a:solidFill>
          <a:ln/>
        </p:spPr>
      </p:sp>
      <p:pic>
        <p:nvPicPr>
          <p:cNvPr id="22" name="Image 1" descr="/tmp/esp32p4_guide/icons/vscode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3726" y="3032150"/>
            <a:ext cx="373075" cy="373075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6858000" y="320040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FE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for Free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6858000" y="38862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/ macOS / Linux に対応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7744968" y="4279392"/>
            <a:ext cx="566928" cy="566928"/>
          </a:xfrm>
          <a:prstGeom prst="ellipse">
            <a:avLst/>
          </a:prstGeom>
          <a:solidFill>
            <a:srgbClr val="15304A"/>
          </a:solidFill>
          <a:ln/>
        </p:spPr>
      </p:sp>
      <p:pic>
        <p:nvPicPr>
          <p:cNvPr id="26" name="Image 2" descr="/tmp/esp32p4_guide/icons/windows_CFE3F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2527" y="4406951"/>
            <a:ext cx="311810" cy="311810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8631936" y="4279392"/>
            <a:ext cx="566928" cy="566928"/>
          </a:xfrm>
          <a:prstGeom prst="ellipse">
            <a:avLst/>
          </a:prstGeom>
          <a:solidFill>
            <a:srgbClr val="15304A"/>
          </a:solidFill>
          <a:ln/>
        </p:spPr>
      </p:sp>
      <p:pic>
        <p:nvPicPr>
          <p:cNvPr id="28" name="Image 3" descr="/tmp/esp32p4_guide/icons/apple_CFE3F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9495" y="4406951"/>
            <a:ext cx="311810" cy="311810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9518904" y="4279392"/>
            <a:ext cx="566928" cy="566928"/>
          </a:xfrm>
          <a:prstGeom prst="ellipse">
            <a:avLst/>
          </a:prstGeom>
          <a:solidFill>
            <a:srgbClr val="15304A"/>
          </a:solidFill>
          <a:ln/>
        </p:spPr>
      </p:sp>
      <p:pic>
        <p:nvPicPr>
          <p:cNvPr id="30" name="Image 4" descr="/tmp/esp32p4_guide/icons/linux_CFE3F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6463" y="4406951"/>
            <a:ext cx="311810" cy="311810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548640" y="5166360"/>
            <a:ext cx="10725912" cy="868680"/>
          </a:xfrm>
          <a:prstGeom prst="roundRect">
            <a:avLst>
              <a:gd name="adj" fmla="val 8421"/>
            </a:avLst>
          </a:prstGeom>
          <a:solidFill>
            <a:srgbClr val="EEFAF1"/>
          </a:solidFill>
          <a:ln w="12700">
            <a:solidFill>
              <a:srgbClr val="B6E3C1"/>
            </a:solidFill>
            <a:prstDash val="solid"/>
          </a:ln>
        </p:spPr>
      </p:sp>
      <p:pic>
        <p:nvPicPr>
          <p:cNvPr id="32" name="Image 5" descr="/tmp/esp32p4_guide/icons/lightbulb_0D203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944" y="5294376"/>
            <a:ext cx="256032" cy="256032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1051560" y="5257800"/>
            <a:ext cx="10085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Tips</a:t>
            </a:r>
            <a:endParaRPr lang="en-US" sz="1150" dirty="0"/>
          </a:p>
        </p:txBody>
      </p:sp>
      <p:sp>
        <p:nvSpPr>
          <p:cNvPr id="34" name="Text 26"/>
          <p:cNvSpPr/>
          <p:nvPr/>
        </p:nvSpPr>
        <p:spPr>
          <a:xfrm>
            <a:off x="768096" y="5568696"/>
            <a:ext cx="10287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既にVS Codeをインストール済みの場合はこの章をスキップして構いません。拡張機能のインストールでエラーが出る場合は、最新バージョンに更新してから進めてください。</a:t>
            </a:r>
            <a:endParaRPr lang="en-US" sz="1000" dirty="0"/>
          </a:p>
        </p:txBody>
      </p:sp>
      <p:sp>
        <p:nvSpPr>
          <p:cNvPr id="35" name="Text 27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7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× VS Code セットアップガイド  |  CrowPanel Advanced 7inch (ESP32-P4)</a:t>
            </a:r>
            <a:endParaRPr lang="en-US" sz="850" dirty="0"/>
          </a:p>
        </p:txBody>
      </p:sp>
      <p:sp>
        <p:nvSpPr>
          <p:cNvPr id="36" name="Text 28"/>
          <p:cNvSpPr/>
          <p:nvPr/>
        </p:nvSpPr>
        <p:spPr>
          <a:xfrm>
            <a:off x="11338560" y="6547104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7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0A5FB4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D20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USBシリアルドライバのインストール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234440" y="859536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0A5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USB-SERIAL DRIVER (CH341)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835640" y="384048"/>
            <a:ext cx="713232" cy="713232"/>
          </a:xfrm>
          <a:prstGeom prst="ellipse">
            <a:avLst/>
          </a:prstGeom>
          <a:solidFill>
            <a:srgbClr val="EAF2FB"/>
          </a:solidFill>
          <a:ln/>
        </p:spPr>
      </p:sp>
      <p:pic>
        <p:nvPicPr>
          <p:cNvPr id="7" name="Image 0" descr="/tmp/esp32p4_guide/icons/usb_0A5F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6117" y="544525"/>
            <a:ext cx="392278" cy="39227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243584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UART0ポートにはWCH社製のUSB-シリアル変換チップ「CH341」が使用されており、専用ドライバの導入が必要です。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1737360"/>
            <a:ext cx="3520440" cy="3063240"/>
          </a:xfrm>
          <a:prstGeom prst="roundRect">
            <a:avLst>
              <a:gd name="adj" fmla="val 2985"/>
            </a:avLst>
          </a:prstGeom>
          <a:solidFill>
            <a:srgbClr val="FAFBFC"/>
          </a:solidFill>
          <a:ln w="12700">
            <a:solidFill>
              <a:srgbClr val="D7E2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68096" y="1956816"/>
            <a:ext cx="512064" cy="512064"/>
          </a:xfrm>
          <a:prstGeom prst="ellipse">
            <a:avLst/>
          </a:prstGeom>
          <a:solidFill>
            <a:srgbClr val="EAF2FB"/>
          </a:solidFill>
          <a:ln/>
        </p:spPr>
      </p:sp>
      <p:pic>
        <p:nvPicPr>
          <p:cNvPr id="11" name="Image 1" descr="/tmp/esp32p4_guide/icons/windows_0A5FB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310" y="2072030"/>
            <a:ext cx="281635" cy="28163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08176" y="1956816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20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Windows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786384" y="2651760"/>
            <a:ext cx="3063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WCH公式サイトからCH341SER.ZIPを取得</a:t>
            </a:r>
            <a:endParaRPr lang="en-US" sz="100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展開しSETUP.EXEを管理者権限で実行</a:t>
            </a:r>
            <a:endParaRPr lang="en-US" sz="100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「INSTALL」を押し、完了後PCを再起動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242816" y="1737360"/>
            <a:ext cx="3520440" cy="3063240"/>
          </a:xfrm>
          <a:prstGeom prst="roundRect">
            <a:avLst>
              <a:gd name="adj" fmla="val 2985"/>
            </a:avLst>
          </a:prstGeom>
          <a:solidFill>
            <a:srgbClr val="FAFBFC"/>
          </a:solidFill>
          <a:ln w="12700">
            <a:solidFill>
              <a:srgbClr val="D7E2E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462272" y="1956816"/>
            <a:ext cx="512064" cy="512064"/>
          </a:xfrm>
          <a:prstGeom prst="ellipse">
            <a:avLst/>
          </a:prstGeom>
          <a:solidFill>
            <a:srgbClr val="EAF2FB"/>
          </a:solidFill>
          <a:ln/>
        </p:spPr>
      </p:sp>
      <p:pic>
        <p:nvPicPr>
          <p:cNvPr id="16" name="Image 2" descr="/tmp/esp32p4_guide/icons/apple_0A5FB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486" y="2072030"/>
            <a:ext cx="281635" cy="28163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102352" y="1956816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20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macOS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4480560" y="2651760"/>
            <a:ext cx="3063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WCH公式サイトからmacOS用ドライバを取得</a:t>
            </a:r>
            <a:endParaRPr lang="en-US" sz="100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インストール後、システム設定でカーネル拡張の実行を許可</a:t>
            </a:r>
            <a:endParaRPr lang="en-US" sz="100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既知の不具合あり（下記参照）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7936992" y="1737360"/>
            <a:ext cx="3520440" cy="3063240"/>
          </a:xfrm>
          <a:prstGeom prst="roundRect">
            <a:avLst>
              <a:gd name="adj" fmla="val 2985"/>
            </a:avLst>
          </a:prstGeom>
          <a:solidFill>
            <a:srgbClr val="FAFBFC"/>
          </a:solidFill>
          <a:ln w="12700">
            <a:solidFill>
              <a:srgbClr val="D7E2E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156448" y="1956816"/>
            <a:ext cx="512064" cy="512064"/>
          </a:xfrm>
          <a:prstGeom prst="ellipse">
            <a:avLst/>
          </a:prstGeom>
          <a:solidFill>
            <a:srgbClr val="EAF2FB"/>
          </a:solidFill>
          <a:ln/>
        </p:spPr>
      </p:sp>
      <p:pic>
        <p:nvPicPr>
          <p:cNvPr id="21" name="Image 3" descr="/tmp/esp32p4_guide/icons/linux_0A5FB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1662" y="2072030"/>
            <a:ext cx="281635" cy="28163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796528" y="1956816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20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Linux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8174736" y="2651760"/>
            <a:ext cx="3063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多くの環境で追加インストール不要（標準搭載）</a:t>
            </a:r>
            <a:endParaRPr lang="en-US" sz="100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認識しない場合のみ公式ドライバを取得</a:t>
            </a:r>
            <a:endParaRPr lang="en-US" sz="100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dialoutグループへのユーザー追加が必要な場合あり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548640" y="4983480"/>
            <a:ext cx="10725912" cy="1207008"/>
          </a:xfrm>
          <a:prstGeom prst="roundRect">
            <a:avLst>
              <a:gd name="adj" fmla="val 6061"/>
            </a:avLst>
          </a:prstGeom>
          <a:solidFill>
            <a:srgbClr val="FFF4E5"/>
          </a:solidFill>
          <a:ln w="12700">
            <a:solidFill>
              <a:srgbClr val="F3C987"/>
            </a:solidFill>
            <a:prstDash val="solid"/>
          </a:ln>
        </p:spPr>
      </p:sp>
      <p:pic>
        <p:nvPicPr>
          <p:cNvPr id="25" name="Image 4" descr="/tmp/esp32p4_guide/icons/warning_0D203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111496"/>
            <a:ext cx="256032" cy="25603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051560" y="5074920"/>
            <a:ext cx="10085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macOSでの既知の不具合</a:t>
            </a:r>
            <a:endParaRPr lang="en-US" sz="1150" dirty="0"/>
          </a:p>
        </p:txBody>
      </p:sp>
      <p:sp>
        <p:nvSpPr>
          <p:cNvPr id="27" name="Text 20"/>
          <p:cNvSpPr/>
          <p:nvPr/>
        </p:nvSpPr>
        <p:spPr>
          <a:xfrm>
            <a:off x="768096" y="5385816"/>
            <a:ext cx="102870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Tahoe（26系）以降の一部環境では、CH341ドライバに起因してUART0ポートが正しく認識されない・通信が不安定になる既知の不具合が報告されています。認識しない場合は、追加ドライバ不要のもう一方のポート「USB 2.0 Device」（ESP32-P4ネイティブのUSBシリアル/JTAG機能）に接続を切り替えて試してください。</a:t>
            </a:r>
            <a:endParaRPr lang="en-US" sz="1000" dirty="0"/>
          </a:p>
        </p:txBody>
      </p:sp>
      <p:sp>
        <p:nvSpPr>
          <p:cNvPr id="28" name="Text 21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7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× VS Code セットアップガイド  |  CrowPanel Advanced 7inch (ESP32-P4)</a:t>
            </a:r>
            <a:endParaRPr lang="en-US" sz="850" dirty="0"/>
          </a:p>
        </p:txBody>
      </p:sp>
      <p:sp>
        <p:nvSpPr>
          <p:cNvPr id="29" name="Text 22"/>
          <p:cNvSpPr/>
          <p:nvPr/>
        </p:nvSpPr>
        <p:spPr>
          <a:xfrm>
            <a:off x="11338560" y="6547104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7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0A5FB4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D20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ESP-IDF拡張機能のインストール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234440" y="859536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0A5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VS CODE EXTENSION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835640" y="384048"/>
            <a:ext cx="713232" cy="713232"/>
          </a:xfrm>
          <a:prstGeom prst="ellipse">
            <a:avLst/>
          </a:prstGeom>
          <a:solidFill>
            <a:srgbClr val="EAF2FB"/>
          </a:solidFill>
          <a:ln/>
        </p:spPr>
      </p:sp>
      <p:pic>
        <p:nvPicPr>
          <p:cNvPr id="7" name="Image 0" descr="/tmp/esp32p4_guide/icons/puzzle_0A5F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6117" y="544525"/>
            <a:ext cx="392278" cy="39227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0A5FB4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060704" y="1709928"/>
            <a:ext cx="5157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Codeを起動する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468880"/>
            <a:ext cx="365760" cy="365760"/>
          </a:xfrm>
          <a:prstGeom prst="ellipse">
            <a:avLst/>
          </a:prstGeom>
          <a:solidFill>
            <a:srgbClr val="0A5FB4"/>
          </a:solidFill>
          <a:ln/>
        </p:spPr>
      </p:sp>
      <p:sp>
        <p:nvSpPr>
          <p:cNvPr id="12" name="Text 9"/>
          <p:cNvSpPr/>
          <p:nvPr/>
        </p:nvSpPr>
        <p:spPr>
          <a:xfrm>
            <a:off x="54864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060704" y="2441448"/>
            <a:ext cx="5157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左側アクティビティバーの「拡張機能」（Ctrl+Shift+X）を開く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3291840"/>
            <a:ext cx="365760" cy="365760"/>
          </a:xfrm>
          <a:prstGeom prst="ellipse">
            <a:avLst/>
          </a:prstGeom>
          <a:solidFill>
            <a:srgbClr val="0A5FB4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060704" y="3264408"/>
            <a:ext cx="5157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検索ボックスに「ESP-IDF」と入力する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4023360"/>
            <a:ext cx="365760" cy="365760"/>
          </a:xfrm>
          <a:prstGeom prst="ellipse">
            <a:avLst/>
          </a:prstGeom>
          <a:solidFill>
            <a:srgbClr val="0A5FB4"/>
          </a:solidFill>
          <a:ln/>
        </p:spPr>
      </p:sp>
      <p:sp>
        <p:nvSpPr>
          <p:cNvPr id="18" name="Text 15"/>
          <p:cNvSpPr/>
          <p:nvPr/>
        </p:nvSpPr>
        <p:spPr>
          <a:xfrm>
            <a:off x="548640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060704" y="3995928"/>
            <a:ext cx="5157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発行元「Espressif Systems」の拡張機能「ESP-IDF」をInstallする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48640" y="4937760"/>
            <a:ext cx="365760" cy="365760"/>
          </a:xfrm>
          <a:prstGeom prst="ellipse">
            <a:avLst/>
          </a:prstGeom>
          <a:solidFill>
            <a:srgbClr val="0A5FB4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493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060704" y="4910328"/>
            <a:ext cx="5157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アクティビティバーにEspressifアイコンが表示されれば完了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583680" y="1737360"/>
            <a:ext cx="470916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7E2EC"/>
            </a:solidFill>
            <a:prstDash val="solid"/>
          </a:ln>
          <a:effectLst>
            <a:outerShdw sx="100000" sy="100000" kx="0" ky="0" algn="bl" rotWithShape="0" blurRad="101600" dist="25400" dir="5400000">
              <a:srgbClr val="1C2B3A">
                <a:alpha val="14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858000" y="2011680"/>
            <a:ext cx="658368" cy="658368"/>
          </a:xfrm>
          <a:prstGeom prst="ellipse">
            <a:avLst/>
          </a:prstGeom>
          <a:solidFill>
            <a:srgbClr val="0A5FB4"/>
          </a:solidFill>
          <a:ln/>
        </p:spPr>
      </p:sp>
      <p:pic>
        <p:nvPicPr>
          <p:cNvPr id="25" name="Image 1" descr="/tmp/esp32p4_guide/icons/puzzle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6133" y="2159813"/>
            <a:ext cx="362102" cy="362102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7680960" y="20116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20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ESP-IDF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7680960" y="237744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Espressif Systems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6858000" y="2816352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7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espressif.esp-idf-extension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6858000" y="3200400"/>
            <a:ext cx="4160520" cy="0"/>
          </a:xfrm>
          <a:prstGeom prst="line">
            <a:avLst/>
          </a:prstGeom>
          <a:noFill/>
          <a:ln w="9525">
            <a:solidFill>
              <a:srgbClr val="D7E2EC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6858000" y="3337560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Code上でESP-IDFのビルド・書き込み・デバッグ等を行うためのUI／コマンド一式を提供する公式拡張機能。</a:t>
            </a:r>
            <a:endParaRPr lang="en-US" sz="1000" dirty="0"/>
          </a:p>
        </p:txBody>
      </p:sp>
      <p:sp>
        <p:nvSpPr>
          <p:cNvPr id="31" name="Shape 27"/>
          <p:cNvSpPr/>
          <p:nvPr/>
        </p:nvSpPr>
        <p:spPr>
          <a:xfrm>
            <a:off x="6858000" y="391363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0A5FB4"/>
          </a:solidFill>
          <a:ln/>
        </p:spPr>
      </p:sp>
      <p:sp>
        <p:nvSpPr>
          <p:cNvPr id="32" name="Text 28"/>
          <p:cNvSpPr/>
          <p:nvPr/>
        </p:nvSpPr>
        <p:spPr>
          <a:xfrm>
            <a:off x="6858000" y="391363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6583680" y="4709160"/>
            <a:ext cx="4709160" cy="1481328"/>
          </a:xfrm>
          <a:prstGeom prst="roundRect">
            <a:avLst>
              <a:gd name="adj" fmla="val 4938"/>
            </a:avLst>
          </a:prstGeom>
          <a:solidFill>
            <a:srgbClr val="EAF2FB"/>
          </a:solidFill>
          <a:ln w="12700">
            <a:solidFill>
              <a:srgbClr val="C4D3EA"/>
            </a:solidFill>
            <a:prstDash val="solid"/>
          </a:ln>
        </p:spPr>
      </p:sp>
      <p:pic>
        <p:nvPicPr>
          <p:cNvPr id="34" name="Image 2" descr="/tmp/esp32p4_guide/icons/book_0D203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9984" y="4837176"/>
            <a:ext cx="256032" cy="256032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7086600" y="480060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9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この時点ではまだビルドできません</a:t>
            </a:r>
            <a:endParaRPr lang="en-US" sz="1150" dirty="0"/>
          </a:p>
        </p:txBody>
      </p:sp>
      <p:sp>
        <p:nvSpPr>
          <p:cNvPr id="36" name="Text 31"/>
          <p:cNvSpPr/>
          <p:nvPr/>
        </p:nvSpPr>
        <p:spPr>
          <a:xfrm>
            <a:off x="6803136" y="5111496"/>
            <a:ext cx="4270248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拡張機能はUIを提供するのみです。実際にビルドするには次章でESP-IDF本体（コンパイラ・ツールチェーン等）のインストールが必要です。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7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× VS Code セットアップガイド  |  CrowPanel Advanced 7inch (ESP32-P4)</a:t>
            </a:r>
            <a:endParaRPr lang="en-US" sz="850" dirty="0"/>
          </a:p>
        </p:txBody>
      </p:sp>
      <p:sp>
        <p:nvSpPr>
          <p:cNvPr id="38" name="Text 33"/>
          <p:cNvSpPr/>
          <p:nvPr/>
        </p:nvSpPr>
        <p:spPr>
          <a:xfrm>
            <a:off x="11338560" y="6547104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7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0A5FB4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D20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ESP-IDF本体のセットアップ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234440" y="859536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0A5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INSTALLATION MANAGER (EIM)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835640" y="384048"/>
            <a:ext cx="713232" cy="713232"/>
          </a:xfrm>
          <a:prstGeom prst="ellipse">
            <a:avLst/>
          </a:prstGeom>
          <a:solidFill>
            <a:srgbClr val="EAF2FB"/>
          </a:solidFill>
          <a:ln/>
        </p:spPr>
      </p:sp>
      <p:pic>
        <p:nvPicPr>
          <p:cNvPr id="7" name="Image 0" descr="/tmp/esp32p4_guide/icons/cloud_0A5F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6117" y="544525"/>
            <a:ext cx="392278" cy="39227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691640"/>
            <a:ext cx="365760" cy="365760"/>
          </a:xfrm>
          <a:prstGeom prst="ellipse">
            <a:avLst/>
          </a:prstGeom>
          <a:solidFill>
            <a:srgbClr val="0A5FB4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691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060704" y="1664208"/>
            <a:ext cx="59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コマンドパレット（Ctrl+Shift+P）で「ESP-IDF: Configure ESP-IDF Extension」を実行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514600"/>
            <a:ext cx="365760" cy="365760"/>
          </a:xfrm>
          <a:prstGeom prst="ellipse">
            <a:avLst/>
          </a:prstGeom>
          <a:solidFill>
            <a:srgbClr val="0A5FB4"/>
          </a:solidFill>
          <a:ln/>
        </p:spPr>
      </p:sp>
      <p:sp>
        <p:nvSpPr>
          <p:cNvPr id="12" name="Text 9"/>
          <p:cNvSpPr/>
          <p:nvPr/>
        </p:nvSpPr>
        <p:spPr>
          <a:xfrm>
            <a:off x="54864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5980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セットアップモードは「EXPRESS（簡易）」を選択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3227832"/>
            <a:ext cx="365760" cy="365760"/>
          </a:xfrm>
          <a:prstGeom prst="ellipse">
            <a:avLst/>
          </a:prstGeom>
          <a:solidFill>
            <a:srgbClr val="0A5FB4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227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060704" y="3200400"/>
            <a:ext cx="5980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ESP-IDFバージョン一覧から v5.4.2 を選択する（右のポイント参照）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4032504"/>
            <a:ext cx="365760" cy="365760"/>
          </a:xfrm>
          <a:prstGeom prst="ellipse">
            <a:avLst/>
          </a:prstGeom>
          <a:solidFill>
            <a:srgbClr val="0A5FB4"/>
          </a:solidFill>
          <a:ln/>
        </p:spPr>
      </p:sp>
      <p:sp>
        <p:nvSpPr>
          <p:cNvPr id="18" name="Text 15"/>
          <p:cNvSpPr/>
          <p:nvPr/>
        </p:nvSpPr>
        <p:spPr>
          <a:xfrm>
            <a:off x="548640" y="4032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060704" y="4005072"/>
            <a:ext cx="59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インストール先を確認し「Install」を実行 → 自動ダウンロード（15〜40分程度）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48640" y="4855464"/>
            <a:ext cx="365760" cy="365760"/>
          </a:xfrm>
          <a:prstGeom prst="ellipse">
            <a:avLst/>
          </a:prstGeom>
          <a:solidFill>
            <a:srgbClr val="0A5FB4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48554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060704" y="4828032"/>
            <a:ext cx="5980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完了後「ESP-IDF: Doctor Command」で構成に問題がないか確認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315200" y="1691640"/>
            <a:ext cx="3977640" cy="1417320"/>
          </a:xfrm>
          <a:prstGeom prst="roundRect">
            <a:avLst>
              <a:gd name="adj" fmla="val 7742"/>
            </a:avLst>
          </a:prstGeom>
          <a:solidFill>
            <a:srgbClr val="0D2036"/>
          </a:solidFill>
          <a:ln/>
        </p:spPr>
      </p:sp>
      <p:sp>
        <p:nvSpPr>
          <p:cNvPr id="24" name="Text 21"/>
          <p:cNvSpPr/>
          <p:nvPr/>
        </p:nvSpPr>
        <p:spPr>
          <a:xfrm>
            <a:off x="7571232" y="1874520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FB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選択するバージョン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7571232" y="2130552"/>
            <a:ext cx="34655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v5.4.2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7571232" y="2788920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Elecrow公式サンプルの動作基準バージョン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7315200" y="3291840"/>
            <a:ext cx="3977640" cy="1828800"/>
          </a:xfrm>
          <a:prstGeom prst="roundRect">
            <a:avLst>
              <a:gd name="adj" fmla="val 4000"/>
            </a:avLst>
          </a:prstGeom>
          <a:solidFill>
            <a:srgbClr val="FFF4E5"/>
          </a:solidFill>
          <a:ln w="12700">
            <a:solidFill>
              <a:srgbClr val="F3C987"/>
            </a:solidFill>
            <a:prstDash val="solid"/>
          </a:ln>
        </p:spPr>
      </p:sp>
      <p:pic>
        <p:nvPicPr>
          <p:cNvPr id="28" name="Image 1" descr="/tmp/esp32p4_guide/icons/warning_0D203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504" y="3419856"/>
            <a:ext cx="256032" cy="256032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818120" y="33832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バージョン選択が重要な理由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7534656" y="3694176"/>
            <a:ext cx="353872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最新安定版はv6.x系ですが、公式サンプルはv5.4.2基準で作成されています。v5.5以降やv6.x系はディスプレイAPI名称変更（例：lcd_color_rgb_pixel_format_t → lcd_color_format_t）等でそのままビルドできない場合があります。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7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× VS Code セットアップガイド  |  CrowPanel Advanced 7inch (ESP32-P4)</a:t>
            </a:r>
            <a:endParaRPr lang="en-US" sz="850" dirty="0"/>
          </a:p>
        </p:txBody>
      </p:sp>
      <p:sp>
        <p:nvSpPr>
          <p:cNvPr id="32" name="Text 28"/>
          <p:cNvSpPr/>
          <p:nvPr/>
        </p:nvSpPr>
        <p:spPr>
          <a:xfrm>
            <a:off x="11338560" y="6547104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7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0A5FB4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6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D20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ビルド・書き込み・動作確認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234440" y="859536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0A5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/ FLASH / MONITOR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835640" y="384048"/>
            <a:ext cx="713232" cy="713232"/>
          </a:xfrm>
          <a:prstGeom prst="ellipse">
            <a:avLst/>
          </a:prstGeom>
          <a:solidFill>
            <a:srgbClr val="EAF2FB"/>
          </a:solidFill>
          <a:ln/>
        </p:spPr>
      </p:sp>
      <p:pic>
        <p:nvPicPr>
          <p:cNvPr id="7" name="Image 0" descr="/tmp/esp32p4_guide/icons/bolt_0A5F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6117" y="544525"/>
            <a:ext cx="392278" cy="39227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2984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20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① ダウンロードモードへの切り替え（BOOT / RESETボタン操作）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77240" y="1691640"/>
            <a:ext cx="3246120" cy="1051560"/>
          </a:xfrm>
          <a:prstGeom prst="roundRect">
            <a:avLst>
              <a:gd name="adj" fmla="val 8696"/>
            </a:avLst>
          </a:prstGeom>
          <a:solidFill>
            <a:srgbClr val="EAF2FB"/>
          </a:solidFill>
          <a:ln w="12700">
            <a:solidFill>
              <a:srgbClr val="C4D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41832" y="1933956"/>
            <a:ext cx="566928" cy="566928"/>
          </a:xfrm>
          <a:prstGeom prst="ellipse">
            <a:avLst/>
          </a:prstGeom>
          <a:solidFill>
            <a:srgbClr val="0A5FB4"/>
          </a:solidFill>
          <a:ln/>
        </p:spPr>
      </p:sp>
      <p:pic>
        <p:nvPicPr>
          <p:cNvPr id="11" name="Image 1" descr="/tmp/esp32p4_guide/icons/power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391" y="2061515"/>
            <a:ext cx="311810" cy="31181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36776" y="18562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5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636776" y="2112264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D20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BOOTを押したまま</a:t>
            </a:r>
            <a:endParaRPr lang="en-US" sz="1250" dirty="0"/>
          </a:p>
        </p:txBody>
      </p:sp>
      <p:pic>
        <p:nvPicPr>
          <p:cNvPr id="14" name="Image 2" descr="/tmp/esp32p4_guide/icons/arrowright_0A5FB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512" y="2080260"/>
            <a:ext cx="347472" cy="27432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4526280" y="1691640"/>
            <a:ext cx="3246120" cy="1051560"/>
          </a:xfrm>
          <a:prstGeom prst="roundRect">
            <a:avLst>
              <a:gd name="adj" fmla="val 8696"/>
            </a:avLst>
          </a:prstGeom>
          <a:solidFill>
            <a:srgbClr val="EAF2FB"/>
          </a:solidFill>
          <a:ln w="12700">
            <a:solidFill>
              <a:srgbClr val="C4D3EA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690872" y="1933956"/>
            <a:ext cx="566928" cy="566928"/>
          </a:xfrm>
          <a:prstGeom prst="ellipse">
            <a:avLst/>
          </a:prstGeom>
          <a:solidFill>
            <a:srgbClr val="0A5FB4"/>
          </a:solidFill>
          <a:ln/>
        </p:spPr>
      </p:sp>
      <p:pic>
        <p:nvPicPr>
          <p:cNvPr id="17" name="Image 3" descr="/tmp/esp32p4_guide/icons/power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431" y="2061515"/>
            <a:ext cx="311810" cy="31181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385816" y="18562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5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900" dirty="0"/>
          </a:p>
        </p:txBody>
      </p:sp>
      <p:sp>
        <p:nvSpPr>
          <p:cNvPr id="19" name="Text 13"/>
          <p:cNvSpPr/>
          <p:nvPr/>
        </p:nvSpPr>
        <p:spPr>
          <a:xfrm>
            <a:off x="5385816" y="2112264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D20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RESETを押して離す</a:t>
            </a:r>
            <a:endParaRPr lang="en-US" sz="1250" dirty="0"/>
          </a:p>
        </p:txBody>
      </p:sp>
      <p:pic>
        <p:nvPicPr>
          <p:cNvPr id="20" name="Image 4" descr="/tmp/esp32p4_guide/icons/arrowright_0A5FB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5552" y="2080260"/>
            <a:ext cx="347472" cy="27432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8275320" y="1691640"/>
            <a:ext cx="3246120" cy="1051560"/>
          </a:xfrm>
          <a:prstGeom prst="roundRect">
            <a:avLst>
              <a:gd name="adj" fmla="val 8696"/>
            </a:avLst>
          </a:prstGeom>
          <a:solidFill>
            <a:srgbClr val="EAF2FB"/>
          </a:solidFill>
          <a:ln w="12700">
            <a:solidFill>
              <a:srgbClr val="C4D3EA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8439912" y="1933956"/>
            <a:ext cx="566928" cy="566928"/>
          </a:xfrm>
          <a:prstGeom prst="ellipse">
            <a:avLst/>
          </a:prstGeom>
          <a:solidFill>
            <a:srgbClr val="0A5FB4"/>
          </a:solidFill>
          <a:ln/>
        </p:spPr>
      </p:sp>
      <p:pic>
        <p:nvPicPr>
          <p:cNvPr id="23" name="Image 5" descr="/tmp/esp32p4_guide/icons/power_FFFFF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7471" y="2061515"/>
            <a:ext cx="311810" cy="31181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9134856" y="18562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5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900" dirty="0"/>
          </a:p>
        </p:txBody>
      </p:sp>
      <p:sp>
        <p:nvSpPr>
          <p:cNvPr id="25" name="Text 17"/>
          <p:cNvSpPr/>
          <p:nvPr/>
        </p:nvSpPr>
        <p:spPr>
          <a:xfrm>
            <a:off x="9134856" y="2112264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D20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最後にBOOTを離す</a:t>
            </a:r>
            <a:endParaRPr lang="en-US" sz="1250" dirty="0"/>
          </a:p>
        </p:txBody>
      </p:sp>
      <p:sp>
        <p:nvSpPr>
          <p:cNvPr id="26" name="Text 18"/>
          <p:cNvSpPr/>
          <p:nvPr/>
        </p:nvSpPr>
        <p:spPr>
          <a:xfrm>
            <a:off x="548640" y="30632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20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② ビルド → 書き込み → モニタ</a:t>
            </a:r>
            <a:endParaRPr lang="en-US" sz="1300" dirty="0"/>
          </a:p>
        </p:txBody>
      </p:sp>
      <p:sp>
        <p:nvSpPr>
          <p:cNvPr id="27" name="Shape 19"/>
          <p:cNvSpPr/>
          <p:nvPr/>
        </p:nvSpPr>
        <p:spPr>
          <a:xfrm>
            <a:off x="548640" y="3456432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AFBFC"/>
          </a:solidFill>
          <a:ln w="12700">
            <a:solidFill>
              <a:srgbClr val="D7E2EC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1540764" y="3639312"/>
            <a:ext cx="530352" cy="530352"/>
          </a:xfrm>
          <a:prstGeom prst="ellipse">
            <a:avLst/>
          </a:prstGeom>
          <a:solidFill>
            <a:srgbClr val="EAF2FB"/>
          </a:solidFill>
          <a:ln/>
        </p:spPr>
      </p:sp>
      <p:pic>
        <p:nvPicPr>
          <p:cNvPr id="29" name="Image 6" descr="/tmp/esp32p4_guide/icons/usb_0A5FB4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60093" y="3758641"/>
            <a:ext cx="291694" cy="29169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85800" y="4261104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D20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ポート選択</a:t>
            </a:r>
            <a:endParaRPr lang="en-US" sz="1250" dirty="0"/>
          </a:p>
        </p:txBody>
      </p:sp>
      <p:sp>
        <p:nvSpPr>
          <p:cNvPr id="31" name="Text 22"/>
          <p:cNvSpPr/>
          <p:nvPr/>
        </p:nvSpPr>
        <p:spPr>
          <a:xfrm>
            <a:off x="658368" y="4553712"/>
            <a:ext cx="229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Port to Use</a:t>
            </a:r>
            <a:endParaRPr lang="en-US" sz="830" dirty="0"/>
          </a:p>
        </p:txBody>
      </p:sp>
      <p:pic>
        <p:nvPicPr>
          <p:cNvPr id="32" name="Image 7" descr="/tmp/esp32p4_guide/icons/arrowright_8A97A4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90672" y="4046220"/>
            <a:ext cx="219456" cy="237744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3319272" y="3456432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AFBFC"/>
          </a:solidFill>
          <a:ln w="12700">
            <a:solidFill>
              <a:srgbClr val="D7E2EC"/>
            </a:solidFill>
            <a:prstDash val="solid"/>
          </a:ln>
        </p:spPr>
      </p:sp>
      <p:sp>
        <p:nvSpPr>
          <p:cNvPr id="34" name="Shape 24"/>
          <p:cNvSpPr/>
          <p:nvPr/>
        </p:nvSpPr>
        <p:spPr>
          <a:xfrm>
            <a:off x="4311396" y="3639312"/>
            <a:ext cx="530352" cy="530352"/>
          </a:xfrm>
          <a:prstGeom prst="ellipse">
            <a:avLst/>
          </a:prstGeom>
          <a:solidFill>
            <a:srgbClr val="EAF2FB"/>
          </a:solidFill>
          <a:ln/>
        </p:spPr>
      </p:sp>
      <p:pic>
        <p:nvPicPr>
          <p:cNvPr id="35" name="Image 8" descr="/tmp/esp32p4_guide/icons/terminal_0A5FB4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30725" y="3758641"/>
            <a:ext cx="291694" cy="291694"/>
          </a:xfrm>
          <a:prstGeom prst="rect">
            <a:avLst/>
          </a:prstGeom>
        </p:spPr>
      </p:pic>
      <p:sp>
        <p:nvSpPr>
          <p:cNvPr id="36" name="Text 25"/>
          <p:cNvSpPr/>
          <p:nvPr/>
        </p:nvSpPr>
        <p:spPr>
          <a:xfrm>
            <a:off x="3456432" y="4261104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D20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ビルド</a:t>
            </a:r>
            <a:endParaRPr lang="en-US" sz="1250" dirty="0"/>
          </a:p>
        </p:txBody>
      </p:sp>
      <p:sp>
        <p:nvSpPr>
          <p:cNvPr id="37" name="Text 26"/>
          <p:cNvSpPr/>
          <p:nvPr/>
        </p:nvSpPr>
        <p:spPr>
          <a:xfrm>
            <a:off x="3429000" y="4553712"/>
            <a:ext cx="229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Project</a:t>
            </a:r>
            <a:endParaRPr lang="en-US" sz="830" dirty="0"/>
          </a:p>
        </p:txBody>
      </p:sp>
      <p:pic>
        <p:nvPicPr>
          <p:cNvPr id="38" name="Image 9" descr="/tmp/esp32p4_guide/icons/arrowright_8A97A4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61304" y="4046220"/>
            <a:ext cx="219456" cy="237744"/>
          </a:xfrm>
          <a:prstGeom prst="rect">
            <a:avLst/>
          </a:prstGeom>
        </p:spPr>
      </p:pic>
      <p:sp>
        <p:nvSpPr>
          <p:cNvPr id="39" name="Shape 27"/>
          <p:cNvSpPr/>
          <p:nvPr/>
        </p:nvSpPr>
        <p:spPr>
          <a:xfrm>
            <a:off x="6089904" y="3456432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AFBFC"/>
          </a:solidFill>
          <a:ln w="12700">
            <a:solidFill>
              <a:srgbClr val="D7E2EC"/>
            </a:solidFill>
            <a:prstDash val="solid"/>
          </a:ln>
        </p:spPr>
      </p:sp>
      <p:sp>
        <p:nvSpPr>
          <p:cNvPr id="40" name="Shape 28"/>
          <p:cNvSpPr/>
          <p:nvPr/>
        </p:nvSpPr>
        <p:spPr>
          <a:xfrm>
            <a:off x="7082028" y="3639312"/>
            <a:ext cx="530352" cy="530352"/>
          </a:xfrm>
          <a:prstGeom prst="ellipse">
            <a:avLst/>
          </a:prstGeom>
          <a:solidFill>
            <a:srgbClr val="EAF2FB"/>
          </a:solidFill>
          <a:ln/>
        </p:spPr>
      </p:sp>
      <p:pic>
        <p:nvPicPr>
          <p:cNvPr id="41" name="Image 10" descr="/tmp/esp32p4_guide/icons/bolt_0A5FB4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01357" y="3758641"/>
            <a:ext cx="291694" cy="291694"/>
          </a:xfrm>
          <a:prstGeom prst="rect">
            <a:avLst/>
          </a:prstGeom>
        </p:spPr>
      </p:pic>
      <p:sp>
        <p:nvSpPr>
          <p:cNvPr id="42" name="Text 29"/>
          <p:cNvSpPr/>
          <p:nvPr/>
        </p:nvSpPr>
        <p:spPr>
          <a:xfrm>
            <a:off x="6227064" y="4261104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D20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書き込み</a:t>
            </a:r>
            <a:endParaRPr lang="en-US" sz="1250" dirty="0"/>
          </a:p>
        </p:txBody>
      </p:sp>
      <p:sp>
        <p:nvSpPr>
          <p:cNvPr id="43" name="Text 30"/>
          <p:cNvSpPr/>
          <p:nvPr/>
        </p:nvSpPr>
        <p:spPr>
          <a:xfrm>
            <a:off x="6199632" y="4553712"/>
            <a:ext cx="229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 your Project (UART)</a:t>
            </a:r>
            <a:endParaRPr lang="en-US" sz="830" dirty="0"/>
          </a:p>
        </p:txBody>
      </p:sp>
      <p:pic>
        <p:nvPicPr>
          <p:cNvPr id="44" name="Image 11" descr="/tmp/esp32p4_guide/icons/arrowright_8A97A4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31936" y="4046220"/>
            <a:ext cx="219456" cy="237744"/>
          </a:xfrm>
          <a:prstGeom prst="rect">
            <a:avLst/>
          </a:prstGeom>
        </p:spPr>
      </p:pic>
      <p:sp>
        <p:nvSpPr>
          <p:cNvPr id="45" name="Shape 31"/>
          <p:cNvSpPr/>
          <p:nvPr/>
        </p:nvSpPr>
        <p:spPr>
          <a:xfrm>
            <a:off x="8860536" y="3456432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AFBFC"/>
          </a:solidFill>
          <a:ln w="12700">
            <a:solidFill>
              <a:srgbClr val="D7E2EC"/>
            </a:solidFill>
            <a:prstDash val="solid"/>
          </a:ln>
        </p:spPr>
      </p:sp>
      <p:sp>
        <p:nvSpPr>
          <p:cNvPr id="46" name="Shape 32"/>
          <p:cNvSpPr/>
          <p:nvPr/>
        </p:nvSpPr>
        <p:spPr>
          <a:xfrm>
            <a:off x="9852660" y="3639312"/>
            <a:ext cx="530352" cy="530352"/>
          </a:xfrm>
          <a:prstGeom prst="ellipse">
            <a:avLst/>
          </a:prstGeom>
          <a:solidFill>
            <a:srgbClr val="EAF2FB"/>
          </a:solidFill>
          <a:ln/>
        </p:spPr>
      </p:sp>
      <p:pic>
        <p:nvPicPr>
          <p:cNvPr id="47" name="Image 12" descr="/tmp/esp32p4_guide/icons/monitor_0A5FB4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971989" y="3758641"/>
            <a:ext cx="291694" cy="291694"/>
          </a:xfrm>
          <a:prstGeom prst="rect">
            <a:avLst/>
          </a:prstGeom>
        </p:spPr>
      </p:pic>
      <p:sp>
        <p:nvSpPr>
          <p:cNvPr id="48" name="Text 33"/>
          <p:cNvSpPr/>
          <p:nvPr/>
        </p:nvSpPr>
        <p:spPr>
          <a:xfrm>
            <a:off x="8997696" y="4261104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D20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モニタ確認</a:t>
            </a:r>
            <a:endParaRPr lang="en-US" sz="1250" dirty="0"/>
          </a:p>
        </p:txBody>
      </p:sp>
      <p:sp>
        <p:nvSpPr>
          <p:cNvPr id="49" name="Text 34"/>
          <p:cNvSpPr/>
          <p:nvPr/>
        </p:nvSpPr>
        <p:spPr>
          <a:xfrm>
            <a:off x="8970264" y="4553712"/>
            <a:ext cx="229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Device</a:t>
            </a:r>
            <a:endParaRPr lang="en-US" sz="830" dirty="0"/>
          </a:p>
        </p:txBody>
      </p:sp>
      <p:sp>
        <p:nvSpPr>
          <p:cNvPr id="50" name="Shape 35"/>
          <p:cNvSpPr/>
          <p:nvPr/>
        </p:nvSpPr>
        <p:spPr>
          <a:xfrm>
            <a:off x="548640" y="5120640"/>
            <a:ext cx="10725912" cy="1051560"/>
          </a:xfrm>
          <a:prstGeom prst="roundRect">
            <a:avLst>
              <a:gd name="adj" fmla="val 6957"/>
            </a:avLst>
          </a:prstGeom>
          <a:solidFill>
            <a:srgbClr val="EEFAF1"/>
          </a:solidFill>
          <a:ln w="12700">
            <a:solidFill>
              <a:srgbClr val="B6E3C1"/>
            </a:solidFill>
            <a:prstDash val="solid"/>
          </a:ln>
        </p:spPr>
      </p:sp>
      <p:pic>
        <p:nvPicPr>
          <p:cNvPr id="51" name="Image 13" descr="/tmp/esp32p4_guide/icons/lightbulb_0D2036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4944" y="5248656"/>
            <a:ext cx="256032" cy="256032"/>
          </a:xfrm>
          <a:prstGeom prst="rect">
            <a:avLst/>
          </a:prstGeom>
        </p:spPr>
      </p:pic>
      <p:sp>
        <p:nvSpPr>
          <p:cNvPr id="52" name="Text 36"/>
          <p:cNvSpPr/>
          <p:nvPr/>
        </p:nvSpPr>
        <p:spPr>
          <a:xfrm>
            <a:off x="1051560" y="5212080"/>
            <a:ext cx="10085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動作確認の目安</a:t>
            </a:r>
            <a:endParaRPr lang="en-US" sz="1150" dirty="0"/>
          </a:p>
        </p:txBody>
      </p:sp>
      <p:sp>
        <p:nvSpPr>
          <p:cNvPr id="53" name="Text 37"/>
          <p:cNvSpPr/>
          <p:nvPr/>
        </p:nvSpPr>
        <p:spPr>
          <a:xfrm>
            <a:off x="768096" y="5522976"/>
            <a:ext cx="10287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シリアルモニタのログに「Found 32MB PSRAM device」のような表示があれば、PSRAMが正しく認識され正常に動作しています。本体画面にサンプルUIが表示されればセットアップ完了です。</a:t>
            </a:r>
            <a:endParaRPr lang="en-US" sz="1000" dirty="0"/>
          </a:p>
        </p:txBody>
      </p:sp>
      <p:sp>
        <p:nvSpPr>
          <p:cNvPr id="54" name="Text 38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7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× VS Code セットアップガイド  |  CrowPanel Advanced 7inch (ESP32-P4)</a:t>
            </a:r>
            <a:endParaRPr lang="en-US" sz="850" dirty="0"/>
          </a:p>
        </p:txBody>
      </p:sp>
      <p:sp>
        <p:nvSpPr>
          <p:cNvPr id="55" name="Text 39"/>
          <p:cNvSpPr/>
          <p:nvPr/>
        </p:nvSpPr>
        <p:spPr>
          <a:xfrm>
            <a:off x="11338560" y="6547104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7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02336"/>
            <a:ext cx="640080" cy="640080"/>
          </a:xfrm>
          <a:prstGeom prst="ellipse">
            <a:avLst/>
          </a:prstGeom>
          <a:solidFill>
            <a:srgbClr val="0A5FB4"/>
          </a:solidFill>
          <a:ln/>
        </p:spPr>
      </p:sp>
      <p:pic>
        <p:nvPicPr>
          <p:cNvPr id="3" name="Image 0" descr="/tmp/esp32p4_guide/icons/bug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6938" y="546354"/>
            <a:ext cx="352044" cy="3520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6576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D20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よくあるつまずきポイント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1298448" y="82296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0A5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TROUBLESHOOTING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5330952" cy="182880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12700">
            <a:solidFill>
              <a:srgbClr val="D7E2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49808" y="1618488"/>
            <a:ext cx="457200" cy="457200"/>
          </a:xfrm>
          <a:prstGeom prst="ellipse">
            <a:avLst/>
          </a:prstGeom>
          <a:solidFill>
            <a:srgbClr val="FFF4E5"/>
          </a:solidFill>
          <a:ln/>
        </p:spPr>
      </p:sp>
      <p:pic>
        <p:nvPicPr>
          <p:cNvPr id="8" name="Image 1" descr="/tmp/esp32p4_guide/icons/warning_9A5B0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678" y="1721358"/>
            <a:ext cx="251460" cy="2514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53312" y="1581912"/>
            <a:ext cx="4325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D20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画面が真っ暗、表示が乱れる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804672" y="2313432"/>
            <a:ext cx="4818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ほとんどはPSRAM未検出が原因。シリアルログでPSRAM検出を確認し、給電不足も疑う</a:t>
            </a:r>
            <a:endParaRPr lang="en-US" sz="1080" dirty="0"/>
          </a:p>
        </p:txBody>
      </p:sp>
      <p:sp>
        <p:nvSpPr>
          <p:cNvPr id="11" name="Shape 7"/>
          <p:cNvSpPr/>
          <p:nvPr/>
        </p:nvSpPr>
        <p:spPr>
          <a:xfrm>
            <a:off x="6099048" y="1417320"/>
            <a:ext cx="5330952" cy="182880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12700">
            <a:solidFill>
              <a:srgbClr val="D7E2EC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300216" y="1618488"/>
            <a:ext cx="457200" cy="457200"/>
          </a:xfrm>
          <a:prstGeom prst="ellipse">
            <a:avLst/>
          </a:prstGeom>
          <a:solidFill>
            <a:srgbClr val="FFF4E5"/>
          </a:solidFill>
          <a:ln/>
        </p:spPr>
      </p:sp>
      <p:pic>
        <p:nvPicPr>
          <p:cNvPr id="13" name="Image 2" descr="/tmp/esp32p4_guide/icons/warning_9A5B0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3086" y="1721358"/>
            <a:ext cx="251460" cy="2514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1581912"/>
            <a:ext cx="4325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D20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シリアルポートが表示されない（特にmacOS）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6355080" y="2313432"/>
            <a:ext cx="4818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CH341ドライバ未導入、または既知の不具合。「USB 2.0 Device」ポートに切り替えて試す</a:t>
            </a:r>
            <a:endParaRPr lang="en-US" sz="1080" dirty="0"/>
          </a:p>
        </p:txBody>
      </p:sp>
      <p:sp>
        <p:nvSpPr>
          <p:cNvPr id="16" name="Shape 11"/>
          <p:cNvSpPr/>
          <p:nvPr/>
        </p:nvSpPr>
        <p:spPr>
          <a:xfrm>
            <a:off x="548640" y="3465576"/>
            <a:ext cx="5330952" cy="182880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12700">
            <a:solidFill>
              <a:srgbClr val="D7E2EC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49808" y="3666744"/>
            <a:ext cx="457200" cy="457200"/>
          </a:xfrm>
          <a:prstGeom prst="ellipse">
            <a:avLst/>
          </a:prstGeom>
          <a:solidFill>
            <a:srgbClr val="FFF4E5"/>
          </a:solidFill>
          <a:ln/>
        </p:spPr>
      </p:sp>
      <p:pic>
        <p:nvPicPr>
          <p:cNvPr id="18" name="Image 3" descr="/tmp/esp32p4_guide/icons/warning_9A5B0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678" y="3769614"/>
            <a:ext cx="251460" cy="2514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353312" y="3630168"/>
            <a:ext cx="4325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D20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書き込み（Flash）が失敗する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804672" y="4361688"/>
            <a:ext cx="4818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ダウンロードモードに入れていない可能性。BOOT/RESETボタン操作を再度実施する</a:t>
            </a:r>
            <a:endParaRPr lang="en-US" sz="1080" dirty="0"/>
          </a:p>
        </p:txBody>
      </p:sp>
      <p:sp>
        <p:nvSpPr>
          <p:cNvPr id="21" name="Shape 15"/>
          <p:cNvSpPr/>
          <p:nvPr/>
        </p:nvSpPr>
        <p:spPr>
          <a:xfrm>
            <a:off x="6099048" y="3465576"/>
            <a:ext cx="5330952" cy="182880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12700">
            <a:solidFill>
              <a:srgbClr val="D7E2EC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0216" y="3666744"/>
            <a:ext cx="457200" cy="457200"/>
          </a:xfrm>
          <a:prstGeom prst="ellipse">
            <a:avLst/>
          </a:prstGeom>
          <a:solidFill>
            <a:srgbClr val="FFF4E5"/>
          </a:solidFill>
          <a:ln/>
        </p:spPr>
      </p:sp>
      <p:pic>
        <p:nvPicPr>
          <p:cNvPr id="23" name="Image 4" descr="/tmp/esp32p4_guide/icons/warning_9A5B0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3086" y="3769614"/>
            <a:ext cx="251460" cy="25146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903720" y="3630168"/>
            <a:ext cx="4325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D20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ビルド時に型名・APIエラーが出る</a:t>
            </a:r>
            <a:endParaRPr lang="en-US" sz="1300" dirty="0"/>
          </a:p>
        </p:txBody>
      </p:sp>
      <p:sp>
        <p:nvSpPr>
          <p:cNvPr id="25" name="Text 18"/>
          <p:cNvSpPr/>
          <p:nvPr/>
        </p:nvSpPr>
        <p:spPr>
          <a:xfrm>
            <a:off x="6355080" y="4361688"/>
            <a:ext cx="4818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ESP-IDFのバージョン不一致。v5.4.2に揃えるか、コードをAPI変更に合わせて修正する</a:t>
            </a:r>
            <a:endParaRPr lang="en-US" sz="1080" dirty="0"/>
          </a:p>
        </p:txBody>
      </p:sp>
      <p:sp>
        <p:nvSpPr>
          <p:cNvPr id="26" name="Text 19"/>
          <p:cNvSpPr/>
          <p:nvPr/>
        </p:nvSpPr>
        <p:spPr>
          <a:xfrm>
            <a:off x="457200" y="65471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7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× VS Code セットアップガイド  |  CrowPanel Advanced 7inch (ESP32-P4)</a:t>
            </a:r>
            <a:endParaRPr lang="en-US" sz="850" dirty="0"/>
          </a:p>
        </p:txBody>
      </p:sp>
      <p:sp>
        <p:nvSpPr>
          <p:cNvPr id="27" name="Text 20"/>
          <p:cNvSpPr/>
          <p:nvPr/>
        </p:nvSpPr>
        <p:spPr>
          <a:xfrm>
            <a:off x="11338560" y="6547104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7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20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まとめ：6つのフェーズで開発環境が完成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691640" cy="1371600"/>
          </a:xfrm>
          <a:prstGeom prst="roundRect">
            <a:avLst>
              <a:gd name="adj" fmla="val 6667"/>
            </a:avLst>
          </a:prstGeom>
          <a:solidFill>
            <a:srgbClr val="15304A"/>
          </a:solidFill>
          <a:ln w="12700">
            <a:solidFill>
              <a:srgbClr val="2341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0140" y="1444752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5" name="Image 0" descr="/tmp/esp32p4_guide/icons/clipboard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3584" y="1568196"/>
            <a:ext cx="301752" cy="30175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21792" y="2084832"/>
            <a:ext cx="15453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事前準備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2386584" y="1280160"/>
            <a:ext cx="1691640" cy="1371600"/>
          </a:xfrm>
          <a:prstGeom prst="roundRect">
            <a:avLst>
              <a:gd name="adj" fmla="val 6667"/>
            </a:avLst>
          </a:prstGeom>
          <a:solidFill>
            <a:srgbClr val="15304A"/>
          </a:solidFill>
          <a:ln w="12700">
            <a:solidFill>
              <a:srgbClr val="23415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958084" y="1444752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9" name="Image 1" descr="/tmp/esp32p4_guide/icons/vscode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1568196"/>
            <a:ext cx="301752" cy="30175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459736" y="2084832"/>
            <a:ext cx="15453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Code導入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224528" y="1280160"/>
            <a:ext cx="1691640" cy="1371600"/>
          </a:xfrm>
          <a:prstGeom prst="roundRect">
            <a:avLst>
              <a:gd name="adj" fmla="val 6667"/>
            </a:avLst>
          </a:prstGeom>
          <a:solidFill>
            <a:srgbClr val="15304A"/>
          </a:solidFill>
          <a:ln w="12700">
            <a:solidFill>
              <a:srgbClr val="23415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796028" y="1444752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3" name="Image 2" descr="/tmp/esp32p4_guide/icons/usb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568196"/>
            <a:ext cx="301752" cy="30175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297680" y="2084832"/>
            <a:ext cx="15453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USBドライバ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6062472" y="1280160"/>
            <a:ext cx="1691640" cy="1371600"/>
          </a:xfrm>
          <a:prstGeom prst="roundRect">
            <a:avLst>
              <a:gd name="adj" fmla="val 6667"/>
            </a:avLst>
          </a:prstGeom>
          <a:solidFill>
            <a:srgbClr val="15304A"/>
          </a:solidFill>
          <a:ln w="12700">
            <a:solidFill>
              <a:srgbClr val="23415F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633972" y="1444752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7" name="Image 3" descr="/tmp/esp32p4_guide/icons/puzzle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7416" y="1568196"/>
            <a:ext cx="301752" cy="30175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135624" y="2084832"/>
            <a:ext cx="15453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拡張機能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7900416" y="1280160"/>
            <a:ext cx="1691640" cy="1371600"/>
          </a:xfrm>
          <a:prstGeom prst="roundRect">
            <a:avLst>
              <a:gd name="adj" fmla="val 6667"/>
            </a:avLst>
          </a:prstGeom>
          <a:solidFill>
            <a:srgbClr val="15304A"/>
          </a:solidFill>
          <a:ln w="12700">
            <a:solidFill>
              <a:srgbClr val="23415F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8471916" y="1444752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1" name="Image 4" descr="/tmp/esp32p4_guide/icons/cloud_FFFFF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1568196"/>
            <a:ext cx="301752" cy="30175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973568" y="2084832"/>
            <a:ext cx="15453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ESP-IDF構築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9738360" y="1280160"/>
            <a:ext cx="1691640" cy="1371600"/>
          </a:xfrm>
          <a:prstGeom prst="roundRect">
            <a:avLst>
              <a:gd name="adj" fmla="val 6667"/>
            </a:avLst>
          </a:prstGeom>
          <a:solidFill>
            <a:srgbClr val="15304A"/>
          </a:solidFill>
          <a:ln w="12700">
            <a:solidFill>
              <a:srgbClr val="23415F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10309860" y="1444752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5" name="Image 5" descr="/tmp/esp32p4_guide/icons/bolt_FFFFF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33304" y="1568196"/>
            <a:ext cx="301752" cy="301752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9811512" y="2084832"/>
            <a:ext cx="15453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動作確認</a:t>
            </a:r>
            <a:endParaRPr lang="en-US" sz="1050" dirty="0"/>
          </a:p>
        </p:txBody>
      </p:sp>
      <p:sp>
        <p:nvSpPr>
          <p:cNvPr id="27" name="Text 19"/>
          <p:cNvSpPr/>
          <p:nvPr/>
        </p:nvSpPr>
        <p:spPr>
          <a:xfrm>
            <a:off x="548640" y="3063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参考リンク</a:t>
            </a:r>
            <a:endParaRPr lang="en-US" sz="1600" dirty="0"/>
          </a:p>
        </p:txBody>
      </p:sp>
      <p:sp>
        <p:nvSpPr>
          <p:cNvPr id="28" name="Shape 20"/>
          <p:cNvSpPr/>
          <p:nvPr/>
        </p:nvSpPr>
        <p:spPr>
          <a:xfrm>
            <a:off x="548640" y="3520440"/>
            <a:ext cx="329184" cy="329184"/>
          </a:xfrm>
          <a:prstGeom prst="ellipse">
            <a:avLst/>
          </a:prstGeom>
          <a:solidFill>
            <a:srgbClr val="15304A"/>
          </a:solidFill>
          <a:ln/>
        </p:spPr>
      </p:sp>
      <p:pic>
        <p:nvPicPr>
          <p:cNvPr id="29" name="Image 6" descr="/tmp/esp32p4_guide/icons/link_02C39A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706" y="3594506"/>
            <a:ext cx="181051" cy="181051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1005840" y="349300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Elecrow公式コース資料（Advance HMI P4 7inch Course V1.1）</a:t>
            </a:r>
            <a:endParaRPr lang="en-US" sz="1200" dirty="0"/>
          </a:p>
        </p:txBody>
      </p:sp>
      <p:sp>
        <p:nvSpPr>
          <p:cNvPr id="31" name="Shape 22"/>
          <p:cNvSpPr/>
          <p:nvPr/>
        </p:nvSpPr>
        <p:spPr>
          <a:xfrm>
            <a:off x="548640" y="3995928"/>
            <a:ext cx="329184" cy="329184"/>
          </a:xfrm>
          <a:prstGeom prst="ellipse">
            <a:avLst/>
          </a:prstGeom>
          <a:solidFill>
            <a:srgbClr val="15304A"/>
          </a:solidFill>
          <a:ln/>
        </p:spPr>
      </p:sp>
      <p:pic>
        <p:nvPicPr>
          <p:cNvPr id="32" name="Image 7" descr="/tmp/esp32p4_guide/icons/link_02C39A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706" y="4069994"/>
            <a:ext cx="181051" cy="181051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1005840" y="3968496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Elecrow公式GitHubリポジトリ（CrowPanel-Advanced-7inch-ESP32-P4）</a:t>
            </a:r>
            <a:endParaRPr lang="en-US" sz="1200" dirty="0"/>
          </a:p>
        </p:txBody>
      </p:sp>
      <p:sp>
        <p:nvSpPr>
          <p:cNvPr id="34" name="Shape 24"/>
          <p:cNvSpPr/>
          <p:nvPr/>
        </p:nvSpPr>
        <p:spPr>
          <a:xfrm>
            <a:off x="548640" y="4471416"/>
            <a:ext cx="329184" cy="329184"/>
          </a:xfrm>
          <a:prstGeom prst="ellipse">
            <a:avLst/>
          </a:prstGeom>
          <a:solidFill>
            <a:srgbClr val="15304A"/>
          </a:solidFill>
          <a:ln/>
        </p:spPr>
      </p:sp>
      <p:pic>
        <p:nvPicPr>
          <p:cNvPr id="35" name="Image 8" descr="/tmp/esp32p4_guide/icons/link_02C39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2706" y="4545482"/>
            <a:ext cx="181051" cy="181051"/>
          </a:xfrm>
          <a:prstGeom prst="rect">
            <a:avLst/>
          </a:prstGeom>
        </p:spPr>
      </p:pic>
      <p:sp>
        <p:nvSpPr>
          <p:cNvPr id="36" name="Text 25"/>
          <p:cNvSpPr/>
          <p:nvPr/>
        </p:nvSpPr>
        <p:spPr>
          <a:xfrm>
            <a:off x="1005840" y="4443984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VS Code拡張機能 公式ドキュメント（docs.espressif.com）</a:t>
            </a:r>
            <a:endParaRPr lang="en-US" sz="1200" dirty="0"/>
          </a:p>
        </p:txBody>
      </p:sp>
      <p:sp>
        <p:nvSpPr>
          <p:cNvPr id="37" name="Shape 26"/>
          <p:cNvSpPr/>
          <p:nvPr/>
        </p:nvSpPr>
        <p:spPr>
          <a:xfrm>
            <a:off x="548640" y="4946904"/>
            <a:ext cx="329184" cy="329184"/>
          </a:xfrm>
          <a:prstGeom prst="ellipse">
            <a:avLst/>
          </a:prstGeom>
          <a:solidFill>
            <a:srgbClr val="15304A"/>
          </a:solidFill>
          <a:ln/>
        </p:spPr>
      </p:sp>
      <p:pic>
        <p:nvPicPr>
          <p:cNvPr id="38" name="Image 9" descr="/tmp/esp32p4_guide/icons/link_02C39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2706" y="5020970"/>
            <a:ext cx="181051" cy="181051"/>
          </a:xfrm>
          <a:prstGeom prst="rect">
            <a:avLst/>
          </a:prstGeom>
        </p:spPr>
      </p:pic>
      <p:sp>
        <p:nvSpPr>
          <p:cNvPr id="39" name="Text 27"/>
          <p:cNvSpPr/>
          <p:nvPr/>
        </p:nvSpPr>
        <p:spPr>
          <a:xfrm>
            <a:off x="1005840" y="4919472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WCH CH341ドライバ ダウンロードページ（wch-ic.com）</a:t>
            </a:r>
            <a:endParaRPr lang="en-US" sz="1200" dirty="0"/>
          </a:p>
        </p:txBody>
      </p:sp>
      <p:sp>
        <p:nvSpPr>
          <p:cNvPr id="40" name="Shape 28"/>
          <p:cNvSpPr/>
          <p:nvPr/>
        </p:nvSpPr>
        <p:spPr>
          <a:xfrm>
            <a:off x="548640" y="5623560"/>
            <a:ext cx="10725912" cy="777240"/>
          </a:xfrm>
          <a:prstGeom prst="roundRect">
            <a:avLst>
              <a:gd name="adj" fmla="val 11765"/>
            </a:avLst>
          </a:prstGeom>
          <a:solidFill>
            <a:srgbClr val="15304A"/>
          </a:solidFill>
          <a:ln w="12700">
            <a:solidFill>
              <a:srgbClr val="0A5FB4"/>
            </a:solidFill>
            <a:prstDash val="solid"/>
          </a:ln>
        </p:spPr>
      </p:sp>
      <p:sp>
        <p:nvSpPr>
          <p:cNvPr id="41" name="Text 29"/>
          <p:cNvSpPr/>
          <p:nvPr/>
        </p:nvSpPr>
        <p:spPr>
          <a:xfrm>
            <a:off x="822960" y="562356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詳しい手順は本動画とあわせて「ESP-IDF × VS Code セットアップ手順書（PDF版）」をご覧ください。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2026-08-19T22:16:08Z</dcterms:created>
  <dcterms:modified xsi:type="dcterms:W3CDTF">2026-08-19T22:16:08Z</dcterms:modified>
</cp:coreProperties>
</file>