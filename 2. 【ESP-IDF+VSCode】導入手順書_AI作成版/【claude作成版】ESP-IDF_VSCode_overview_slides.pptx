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4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9.png"/><Relationship Id="rId4" Type="http://schemas.openxmlformats.org/officeDocument/2006/relationships/image" Target="../media/image12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 ／ 手順の全体像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 を Visual Studio Code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で利用するまでの手順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開発環境の構築 → ビルド → 書き込み → 動作確認 まで、ゼロから解説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78440" y="594360"/>
            <a:ext cx="1051560" cy="10515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783" y="825703"/>
            <a:ext cx="588874" cy="5888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703320"/>
            <a:ext cx="6400800" cy="1143000"/>
          </a:xfrm>
          <a:prstGeom prst="roundRect">
            <a:avLst>
              <a:gd name="adj" fmla="val 9600"/>
            </a:avLst>
          </a:prstGeom>
          <a:solidFill>
            <a:srgbClr val="15304A"/>
          </a:solidFill>
          <a:ln w="15875">
            <a:solidFill>
              <a:srgbClr val="0A5FB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777240" y="38039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対象製品 / TARGET PRODUCT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4059936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CrowPanel Advanced 7inch | ESP32-P4 HMI AI Display 1024×600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15304A"/>
          </a:solidFill>
          <a:ln w="9525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658368" y="51663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8368" y="5422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ESP32-P4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23160" y="5074920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15304A"/>
          </a:solidFill>
          <a:ln w="9525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2532888" y="51663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532888" y="5422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0" y="5074920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15304A"/>
          </a:solidFill>
          <a:ln w="9525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407408" y="51663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407408" y="5422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5074920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15304A"/>
          </a:solidFill>
          <a:ln w="9525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281928" y="51663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81928" y="5422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1024×600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046720" y="5074920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15304A"/>
          </a:solidFill>
          <a:ln w="9525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8156448" y="51663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156448" y="5422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静電容量式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921240" y="5074920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15304A"/>
          </a:solidFill>
          <a:ln w="9525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10030968" y="516636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無線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030968" y="5422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Wi-Fi6/BT5.3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412480" y="6446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CrowPanel ESP32-P4 Setup Guide　|　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なぜ ESP-IDF + VS Code なのか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ESP32-P4 は 2026年8月時点で PlatformIO 未対応。Espressif公式環境が最も安定して全機能を扱える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617720"/>
          </a:xfrm>
          <a:prstGeom prst="roundRect">
            <a:avLst>
              <a:gd name="adj" fmla="val 2584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933956" y="1892808"/>
            <a:ext cx="768096" cy="768096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tmp/esp32p4_guide/icons/monitor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78" y="2065630"/>
            <a:ext cx="422453" cy="4224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0720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Arduino IDE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3264408"/>
            <a:ext cx="2898648" cy="365760"/>
          </a:xfrm>
          <a:prstGeom prst="roundRect">
            <a:avLst>
              <a:gd name="adj" fmla="val 20000"/>
            </a:avLst>
          </a:prstGeom>
          <a:solidFill>
            <a:srgbClr val="FFF4E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868680" y="326440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手軽だが機能制限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3813048"/>
            <a:ext cx="29900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セットアップは簡単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ライブラリが豊富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低レイヤ制御や最新機能の活用にはやや不向き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538728" cy="4617720"/>
          </a:xfrm>
          <a:prstGeom prst="roundRect">
            <a:avLst>
              <a:gd name="adj" fmla="val 2584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728716" y="1892808"/>
            <a:ext cx="768096" cy="768096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/tmp/esp32p4_guide/icons/bug_0A5F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538" y="2065630"/>
            <a:ext cx="422453" cy="42245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80720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PlatformIO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4663440" y="3264408"/>
            <a:ext cx="2898648" cy="365760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/>
          <p:nvPr/>
        </p:nvSpPr>
        <p:spPr>
          <a:xfrm>
            <a:off x="4663440" y="326440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ESP32-P4 未対応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36008" y="3813048"/>
            <a:ext cx="29900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Code拡張として人気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S3 等は対応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ESP32-P4は公式サポート対象外（2026年8月時点）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600200"/>
            <a:ext cx="3538728" cy="4617720"/>
          </a:xfrm>
          <a:prstGeom prst="roundRect">
            <a:avLst>
              <a:gd name="adj" fmla="val 2584"/>
            </a:avLst>
          </a:prstGeom>
          <a:solidFill>
            <a:srgbClr val="F4FBF7"/>
          </a:solidFill>
          <a:ln w="22225">
            <a:solidFill>
              <a:srgbClr val="02C39A"/>
            </a:solidFill>
            <a:prstDash val="solid"/>
          </a:ln>
          <a:effectLst>
            <a:outerShdw blurRad="127000" dist="38100" dir="5400000" algn="bl" rotWithShape="0">
              <a:srgbClr val="1C7293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9523476" y="1892808"/>
            <a:ext cx="768096" cy="7680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/tmp/esp32p4_guide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298" y="2065630"/>
            <a:ext cx="422453" cy="42245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80720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 + VS Code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8458200" y="3264408"/>
            <a:ext cx="2898648" cy="365760"/>
          </a:xfrm>
          <a:prstGeom prst="roundRect">
            <a:avLst>
              <a:gd name="adj" fmla="val 20000"/>
            </a:avLst>
          </a:prstGeom>
          <a:solidFill>
            <a:srgbClr val="EEFAF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8458200" y="326440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本手順で採用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430768" y="3813048"/>
            <a:ext cx="29900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Espressif公式のネイティブ開発環境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MIPI-DSI・PSRAM等の全機能にフルアクセス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本書・本動画で解説する構成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セットアップの全体像 — 6つのフェーズ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①から⑥まで順番に進めれば、迷わずビルド〜書き込みまで到達できます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7872" cy="2212848"/>
          </a:xfrm>
          <a:prstGeom prst="roundRect">
            <a:avLst>
              <a:gd name="adj" fmla="val 413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13232" y="1645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1323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55264" y="1627632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tmp/esp32p4_guide/icons/clipboard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823" y="1755191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19456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事前準備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277977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ハードウェア・PC環境の確認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33101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3152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 5分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315968" y="1481328"/>
            <a:ext cx="3547872" cy="2212848"/>
          </a:xfrm>
          <a:prstGeom prst="roundRect">
            <a:avLst>
              <a:gd name="adj" fmla="val 413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480560" y="1645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480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022592" y="1627632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1" descr="/tmp/esp32p4_guide/icons/vscode_0A5F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51" y="1755191"/>
            <a:ext cx="311810" cy="31181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98848" y="219456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VS Code インストール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498848" y="277977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エディタ本体を導入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498848" y="33101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/>
          <p:nvPr/>
        </p:nvSpPr>
        <p:spPr>
          <a:xfrm>
            <a:off x="4498848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 5分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8083296" y="1481328"/>
            <a:ext cx="3547872" cy="2212848"/>
          </a:xfrm>
          <a:prstGeom prst="roundRect">
            <a:avLst>
              <a:gd name="adj" fmla="val 413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9"/>
          <p:cNvSpPr/>
          <p:nvPr/>
        </p:nvSpPr>
        <p:spPr>
          <a:xfrm>
            <a:off x="8247888" y="16459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0"/>
          <p:cNvSpPr/>
          <p:nvPr/>
        </p:nvSpPr>
        <p:spPr>
          <a:xfrm>
            <a:off x="824788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10789920" y="1627632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2" descr="/tmp/esp32p4_guide/icons/usb_0A5F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7479" y="1755191"/>
            <a:ext cx="311810" cy="31181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66176" y="219456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USBドライバ導入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266176" y="277977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CH341ドライバをインストール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266176" y="331012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5"/>
          <p:cNvSpPr/>
          <p:nvPr/>
        </p:nvSpPr>
        <p:spPr>
          <a:xfrm>
            <a:off x="8266176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 5〜10分</a:t>
            </a:r>
            <a:endParaRPr lang="en-US" sz="880" dirty="0"/>
          </a:p>
        </p:txBody>
      </p:sp>
      <p:sp>
        <p:nvSpPr>
          <p:cNvPr id="31" name="Shape 26"/>
          <p:cNvSpPr/>
          <p:nvPr/>
        </p:nvSpPr>
        <p:spPr>
          <a:xfrm>
            <a:off x="548640" y="3950208"/>
            <a:ext cx="3547872" cy="2212848"/>
          </a:xfrm>
          <a:prstGeom prst="roundRect">
            <a:avLst>
              <a:gd name="adj" fmla="val 413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7"/>
          <p:cNvSpPr/>
          <p:nvPr/>
        </p:nvSpPr>
        <p:spPr>
          <a:xfrm>
            <a:off x="713232" y="4114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8"/>
          <p:cNvSpPr/>
          <p:nvPr/>
        </p:nvSpPr>
        <p:spPr>
          <a:xfrm>
            <a:off x="71323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3255264" y="4096512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3" descr="/tmp/esp32p4_guide/icons/puzzle_0A5F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823" y="4224071"/>
            <a:ext cx="311810" cy="31181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1520" y="466344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ESP-IDF拡張機能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731520" y="524865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Code拡張機能を追加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731520" y="57790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3"/>
          <p:cNvSpPr/>
          <p:nvPr/>
        </p:nvSpPr>
        <p:spPr>
          <a:xfrm>
            <a:off x="731520" y="5779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 2分</a:t>
            </a:r>
            <a:endParaRPr lang="en-US" sz="880" dirty="0"/>
          </a:p>
        </p:txBody>
      </p:sp>
      <p:sp>
        <p:nvSpPr>
          <p:cNvPr id="40" name="Shape 34"/>
          <p:cNvSpPr/>
          <p:nvPr/>
        </p:nvSpPr>
        <p:spPr>
          <a:xfrm>
            <a:off x="4315968" y="3950208"/>
            <a:ext cx="3547872" cy="2212848"/>
          </a:xfrm>
          <a:prstGeom prst="roundRect">
            <a:avLst>
              <a:gd name="adj" fmla="val 413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5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6"/>
          <p:cNvSpPr/>
          <p:nvPr/>
        </p:nvSpPr>
        <p:spPr>
          <a:xfrm>
            <a:off x="44805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7022592" y="4096512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4" name="Image 4" descr="/tmp/esp32p4_guide/icons/cloud_0A5FB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151" y="4224071"/>
            <a:ext cx="311810" cy="31181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4498848" y="466344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ESP-IDF本体セットアップ</a:t>
            </a:r>
            <a:endParaRPr lang="en-US" sz="1450" dirty="0"/>
          </a:p>
        </p:txBody>
      </p:sp>
      <p:sp>
        <p:nvSpPr>
          <p:cNvPr id="46" name="Text 39"/>
          <p:cNvSpPr/>
          <p:nvPr/>
        </p:nvSpPr>
        <p:spPr>
          <a:xfrm>
            <a:off x="4498848" y="524865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Installationで導入(最新安定版)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4498848" y="57790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1"/>
          <p:cNvSpPr/>
          <p:nvPr/>
        </p:nvSpPr>
        <p:spPr>
          <a:xfrm>
            <a:off x="4498848" y="5779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 10〜45分</a:t>
            </a:r>
            <a:endParaRPr lang="en-US" sz="880" dirty="0"/>
          </a:p>
        </p:txBody>
      </p:sp>
      <p:sp>
        <p:nvSpPr>
          <p:cNvPr id="49" name="Shape 42"/>
          <p:cNvSpPr/>
          <p:nvPr/>
        </p:nvSpPr>
        <p:spPr>
          <a:xfrm>
            <a:off x="8083296" y="3950208"/>
            <a:ext cx="3547872" cy="2212848"/>
          </a:xfrm>
          <a:prstGeom prst="roundRect">
            <a:avLst>
              <a:gd name="adj" fmla="val 413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3"/>
          <p:cNvSpPr/>
          <p:nvPr/>
        </p:nvSpPr>
        <p:spPr>
          <a:xfrm>
            <a:off x="8247888" y="4114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4"/>
          <p:cNvSpPr/>
          <p:nvPr/>
        </p:nvSpPr>
        <p:spPr>
          <a:xfrm>
            <a:off x="824788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52" name="Shape 45"/>
          <p:cNvSpPr/>
          <p:nvPr/>
        </p:nvSpPr>
        <p:spPr>
          <a:xfrm>
            <a:off x="10789920" y="4096512"/>
            <a:ext cx="566928" cy="566928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3" name="Image 5" descr="/tmp/esp32p4_guide/icons/bolt_0A5F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7479" y="4224071"/>
            <a:ext cx="311810" cy="31181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8266176" y="466344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ビルド・書き込み・確認</a:t>
            </a:r>
            <a:endParaRPr lang="en-US" sz="1450" dirty="0"/>
          </a:p>
        </p:txBody>
      </p:sp>
      <p:sp>
        <p:nvSpPr>
          <p:cNvPr id="55" name="Text 47"/>
          <p:cNvSpPr/>
          <p:nvPr/>
        </p:nvSpPr>
        <p:spPr>
          <a:xfrm>
            <a:off x="8266176" y="524865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サンプルを動かして動作確認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8266176" y="57790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49"/>
          <p:cNvSpPr/>
          <p:nvPr/>
        </p:nvSpPr>
        <p:spPr>
          <a:xfrm>
            <a:off x="8266176" y="5779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目安 10〜15分</a:t>
            </a:r>
            <a:endParaRPr lang="en-US" sz="880" dirty="0"/>
          </a:p>
        </p:txBody>
      </p:sp>
      <p:sp>
        <p:nvSpPr>
          <p:cNvPr id="58" name="Text 5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事前準備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34440" y="8595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84048"/>
            <a:ext cx="713232" cy="71323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clipboard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7" y="544525"/>
            <a:ext cx="392278" cy="3922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5120640" cy="3520440"/>
          </a:xfrm>
          <a:prstGeom prst="roundRect">
            <a:avLst>
              <a:gd name="adj" fmla="val 2597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804672" y="170992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必要なハードウェア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24942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22225">
            <a:solidFill>
              <a:srgbClr val="0A5FB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170432" y="21762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CrowPanel Advanced 7inch（ESP32-P4）本体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14553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22225">
            <a:solidFill>
              <a:srgbClr val="0A5FB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1170432" y="307238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Type-Cケーブル（データ通信対応。充電専用ケーブルは不可）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404164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22225">
            <a:solidFill>
              <a:srgbClr val="0A5FB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170432" y="396849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（推奨）USB-C ACアダプタ、または十分な給電能力を持つUSBハブ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97880" y="150876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6153912" y="170992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PC環境の要件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53912" y="22219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01000" y="22219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10/11、macOS、Linux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53912" y="2770632"/>
            <a:ext cx="488289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153912" y="29169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ディスク空き容量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01000" y="29169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10GB以上（ツールチェーン一式）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53912" y="3465576"/>
            <a:ext cx="488289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6153912" y="3611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01000" y="3611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ブロードバンド推奨（初回数GB）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53912" y="4160520"/>
            <a:ext cx="488289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6153912" y="430682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001000" y="43068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管理者権限が必要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53912" y="4855464"/>
            <a:ext cx="4882896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7"/>
          <p:cNvSpPr/>
          <p:nvPr/>
        </p:nvSpPr>
        <p:spPr>
          <a:xfrm>
            <a:off x="548640" y="516636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2700">
            <a:solidFill>
              <a:srgbClr val="F3C98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1" descr="/tmp/esp32p4_guide/icons/warning_0D20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294376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51560" y="525780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電源に関する注意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768096" y="5568696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本製品は動作時に約8〜10Wの電力を必要とします。PCのUSBポートからの給電のみでは不足し、画面が真っ暗になったり再起動を繰り返すことがあります。安定しない場合はUSB-C ACアダプタ等からの給電に切り替えてください。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 Studio Code のインストール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34440" y="8595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84048"/>
            <a:ext cx="713232" cy="71323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vscode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7" y="544525"/>
            <a:ext cx="392278" cy="3922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0704" y="1709928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公式サイト code.visualstudio.com にアクセスし、使用OSに対応したインストーラをダウンロードする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0704" y="2807208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ダウンロードしたインストーラを実行し、画面の指示に従ってインストールする（基本は既定設定のままでOK）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0704" y="3904488"/>
            <a:ext cx="5065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インストール完了後にVS Codeを起動し、ウェルカム画面が表示されることを確認する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37960" y="1737360"/>
            <a:ext cx="4754880" cy="3246120"/>
          </a:xfrm>
          <a:prstGeom prst="roundRect">
            <a:avLst>
              <a:gd name="adj" fmla="val 3380"/>
            </a:avLst>
          </a:prstGeom>
          <a:solidFill>
            <a:srgbClr val="0D203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6858000" y="205740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15304A"/>
          </a:solidFill>
          <a:ln w="12700">
            <a:solidFill>
              <a:srgbClr val="2C4E7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704088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0" y="27889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8659368" y="2907792"/>
            <a:ext cx="621792" cy="621792"/>
          </a:xfrm>
          <a:prstGeom prst="ellipse">
            <a:avLst/>
          </a:prstGeom>
          <a:solidFill>
            <a:srgbClr val="0D203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1" descr="/tmp/esp32p4_guide/icons/vs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26" y="3032150"/>
            <a:ext cx="373075" cy="3730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0" y="3200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for Free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85800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/ Linux に対応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744968" y="4279392"/>
            <a:ext cx="566928" cy="566928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2" descr="/tmp/esp32p4_guide/icons/windows_CFE3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527" y="4406951"/>
            <a:ext cx="311810" cy="31181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631936" y="4279392"/>
            <a:ext cx="566928" cy="566928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3" descr="/tmp/esp32p4_guide/icons/apple_CFE3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495" y="4406951"/>
            <a:ext cx="311810" cy="31181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18904" y="4279392"/>
            <a:ext cx="566928" cy="566928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4" descr="/tmp/esp32p4_guide/icons/linux_CFE3F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463" y="4406951"/>
            <a:ext cx="311810" cy="31181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48640" y="5166360"/>
            <a:ext cx="10725912" cy="868680"/>
          </a:xfrm>
          <a:prstGeom prst="roundRect">
            <a:avLst>
              <a:gd name="adj" fmla="val 8421"/>
            </a:avLst>
          </a:prstGeom>
          <a:solidFill>
            <a:srgbClr val="EEFAF1"/>
          </a:solidFill>
          <a:ln w="12700">
            <a:solidFill>
              <a:srgbClr val="B6E3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5" descr="/tmp/esp32p4_guide/icons/lightbulb_0D203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5294376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51560" y="525780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768096" y="55686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既にVS Codeをインストール済みの場合はこの章をスキップして構いません。拡張機能のインストールでエラーが出る場合は、最新バージョンに更新してから進めてください。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USBシリアルドライバのインストール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34440" y="8595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USB-SERIAL DRIVER (CH341)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84048"/>
            <a:ext cx="713232" cy="71323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usb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7" y="544525"/>
            <a:ext cx="392278" cy="392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4358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UART0ポートにはWCH社製のUSB-シリアル変換チップ「CH341」が使用されており、専用ドライバの導入が必要です。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768096" y="1956816"/>
            <a:ext cx="512064" cy="51206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tmp/esp32p4_guide/icons/windows_0A5F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207203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08176" y="195681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Windows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86384" y="26517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WCH公式サイトからCH341SER.ZIPを取得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展開しSETUP.EXEを管理者権限で実行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「INSTALL」を押し、完了後PCを再起動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42816" y="17373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4462272" y="1956816"/>
            <a:ext cx="512064" cy="51206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/tmp/esp32p4_guide/icons/apple_0A5F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486" y="207203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195681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macOS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80560" y="26517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WCH公式サイトからmacOS用ドライバを取得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インストール後、システム設定でカーネル拡張の実行を許可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既知の不具合あり（下記参照）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936992" y="17373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5"/>
          <p:cNvSpPr/>
          <p:nvPr/>
        </p:nvSpPr>
        <p:spPr>
          <a:xfrm>
            <a:off x="8156448" y="1956816"/>
            <a:ext cx="512064" cy="512064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/tmp/esp32p4_guide/icons/linux_0A5F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662" y="207203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96528" y="195681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Linux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74736" y="265176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多くの環境で追加インストール不要（標準搭載）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認識しない場合のみ公式ドライバを取得</a:t>
            </a:r>
            <a:endParaRPr lang="en-US" sz="10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dialoutグループへのユーザー追加が必要な場合あり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10725912" cy="1207008"/>
          </a:xfrm>
          <a:prstGeom prst="roundRect">
            <a:avLst>
              <a:gd name="adj" fmla="val 6061"/>
            </a:avLst>
          </a:prstGeom>
          <a:solidFill>
            <a:srgbClr val="FFF4E5"/>
          </a:solidFill>
          <a:ln w="12700">
            <a:solidFill>
              <a:srgbClr val="F3C98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4" descr="/tmp/esp32p4_guide/icons/warning_0D20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11149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50749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macOSでの既知の不具合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68096" y="5385816"/>
            <a:ext cx="10287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Tahoe（26系）以降の一部環境では、CH341ドライバに起因してUART0ポートが正しく認識されない・通信が不安定になる既知の不具合が報告されています。認識しない場合は、追加ドライバ不要のもう一方のポート「USB 2.0 Device」（ESP32-P4ネイティブのUSBシリアル/JTAG機能）に接続を切り替えて試してください。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ESP-IDF拡張機能のインストール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34440" y="8595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VS CODE EXTENSION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84048"/>
            <a:ext cx="713232" cy="71323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puzzle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7" y="544525"/>
            <a:ext cx="392278" cy="3922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0704" y="1709928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Codeを起動する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0704" y="2441448"/>
            <a:ext cx="5157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左側アクティビティバーの「拡張機能」（Ctrl+Shift+X）を開く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0704" y="3264408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検索ボックスに「ESP-IDF」と入力する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60704" y="3995928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発行元「Espressif Systems」の拡張機能「ESP-IDF」をInstallする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60704" y="4910328"/>
            <a:ext cx="5157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アクティビティバーにEspressifアイコンが表示されれば完了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83680" y="1737360"/>
            <a:ext cx="4709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7E2EC"/>
            </a:solidFill>
            <a:prstDash val="solid"/>
          </a:ln>
          <a:effectLst>
            <a:outerShdw blurRad="101600" dist="25400" dir="5400000" algn="bl" rotWithShape="0">
              <a:srgbClr val="1C2B3A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1"/>
          <p:cNvSpPr/>
          <p:nvPr/>
        </p:nvSpPr>
        <p:spPr>
          <a:xfrm>
            <a:off x="6858000" y="2011680"/>
            <a:ext cx="658368" cy="658368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1" descr="/tmp/esp32p4_guide/icons/puzz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133" y="2159813"/>
            <a:ext cx="362102" cy="36210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680960" y="2011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680960" y="23774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858000" y="2816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espressif.esp-idf-extension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858000" y="3200400"/>
            <a:ext cx="4160520" cy="0"/>
          </a:xfrm>
          <a:prstGeom prst="line">
            <a:avLst/>
          </a:prstGeom>
          <a:noFill/>
          <a:ln w="9525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6"/>
          <p:cNvSpPr/>
          <p:nvPr/>
        </p:nvSpPr>
        <p:spPr>
          <a:xfrm>
            <a:off x="6858000" y="33375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Code上でESP-IDFのビルド・書き込み・デバッグ等を行うためのUI／コマンド一式を提供する公式拡張機能。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858000" y="391363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8"/>
          <p:cNvSpPr/>
          <p:nvPr/>
        </p:nvSpPr>
        <p:spPr>
          <a:xfrm>
            <a:off x="6858000" y="39136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583680" y="4709160"/>
            <a:ext cx="4709160" cy="1481328"/>
          </a:xfrm>
          <a:prstGeom prst="roundRect">
            <a:avLst>
              <a:gd name="adj" fmla="val 4938"/>
            </a:avLst>
          </a:prstGeom>
          <a:solidFill>
            <a:srgbClr val="EAF2FB"/>
          </a:solidFill>
          <a:ln w="12700">
            <a:solidFill>
              <a:srgbClr val="C4D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4" name="Image 2" descr="/tmp/esp32p4_guide/icons/book_0D20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4837176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086600" y="4800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この時点ではまだビルドできません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6803136" y="5111496"/>
            <a:ext cx="42702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拡張機能はUIを提供するのみです。実際にビルドするには次章でESP-IDF本体（コンパイラ・ツールチェーン等）のインストールが必要です。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ESP-IDF本体のセットアップ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34440" y="8595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INSTALLATION MANAGER (EIM)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84048"/>
            <a:ext cx="713232" cy="71323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cloud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7" y="544525"/>
            <a:ext cx="392278" cy="3922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0704" y="1664208"/>
            <a:ext cx="59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Explorerパネルの「Advanced」から「Open ESP-IDF Installation Manager」を実行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5980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インストール方法は「Easy Installation」を選択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60704" y="3200400"/>
            <a:ext cx="5980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「Ready to Install」画面でバージョン・インストール先を確認（右のポイント参照）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60704" y="4005072"/>
            <a:ext cx="5980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「Start Installation」を実行 → 自動ダウンロード・展開（10〜45分程度）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855464"/>
            <a:ext cx="365760" cy="36576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60704" y="4828032"/>
            <a:ext cx="5980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完了後、プロジェクトを開いてバージョン選択→Doctor Commandで確認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1691640"/>
            <a:ext cx="3977640" cy="1417320"/>
          </a:xfrm>
          <a:prstGeom prst="roundRect">
            <a:avLst>
              <a:gd name="adj" fmla="val 7742"/>
            </a:avLst>
          </a:prstGeom>
          <a:solidFill>
            <a:srgbClr val="0D203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7571232" y="187452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B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導入されるバージョン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571232" y="2130552"/>
            <a:ext cx="3465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v5.5.5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7571232" y="27889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Installationが導入する最新安定版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315200" y="32918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12700">
            <a:solidFill>
              <a:srgbClr val="F3C98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1" descr="/tmp/esp32p4_guide/icons/warning_0D20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3419856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818120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バージョンについて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534656" y="3694176"/>
            <a:ext cx="3538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v5.5.5でHello Worldのビルド・書き込みまで動作確認済みです。LVGL等ディスプレイ系サンプルは一部API変更の影響を受ける場合があります。v5.4.2等に固定したい場合はCustom Installationも選択できます。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402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ビルド・書き込み・動作確認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234440" y="8595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FLASH / MONITOR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835640" y="384048"/>
            <a:ext cx="713232" cy="71323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tmp/esp32p4_guide/icons/bolt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7" y="544525"/>
            <a:ext cx="392278" cy="392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98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① ダウンロードモードへの切り替え（BOOT / RESETボタン操作）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16916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C4D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41832" y="1933956"/>
            <a:ext cx="566928" cy="566928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tmp/esp32p4_guide/icons/pow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391" y="206151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36776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636776" y="21122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D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BOOTを押したまま</a:t>
            </a:r>
            <a:endParaRPr lang="en-US" sz="1250" dirty="0"/>
          </a:p>
        </p:txBody>
      </p:sp>
      <p:pic>
        <p:nvPicPr>
          <p:cNvPr id="14" name="Image 2" descr="/tmp/esp32p4_guide/icons/arrowright_0A5F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2080260"/>
            <a:ext cx="347472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26280" y="16916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C4D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4690872" y="1933956"/>
            <a:ext cx="566928" cy="566928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/tmp/esp32p4_guide/icons/pow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431" y="2061515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85816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385816" y="21122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D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RESETを押して離す</a:t>
            </a:r>
            <a:endParaRPr lang="en-US" sz="1250" dirty="0"/>
          </a:p>
        </p:txBody>
      </p:sp>
      <p:pic>
        <p:nvPicPr>
          <p:cNvPr id="20" name="Image 4" descr="/tmp/esp32p4_guide/icons/arrowright_0A5F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2080260"/>
            <a:ext cx="347472" cy="27432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275320" y="169164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 w="12700">
            <a:solidFill>
              <a:srgbClr val="C4D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5"/>
          <p:cNvSpPr/>
          <p:nvPr/>
        </p:nvSpPr>
        <p:spPr>
          <a:xfrm>
            <a:off x="8439912" y="1933956"/>
            <a:ext cx="566928" cy="566928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5" descr="/tmp/esp32p4_guide/icons/pow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471" y="2061515"/>
            <a:ext cx="311810" cy="31181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34856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9134856" y="21122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D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最後にBOOTを離す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548640" y="3063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② ビルド → 書き込み → モニタ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3456432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0"/>
          <p:cNvSpPr/>
          <p:nvPr/>
        </p:nvSpPr>
        <p:spPr>
          <a:xfrm>
            <a:off x="1540764" y="3639312"/>
            <a:ext cx="530352" cy="53035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6" descr="/tmp/esp32p4_guide/icons/usb_0A5F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0093" y="3758641"/>
            <a:ext cx="291694" cy="29169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5800" y="42611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ポート選択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58368" y="45537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Port to Use</a:t>
            </a:r>
            <a:endParaRPr lang="en-US" sz="830" dirty="0"/>
          </a:p>
        </p:txBody>
      </p:sp>
      <p:pic>
        <p:nvPicPr>
          <p:cNvPr id="32" name="Image 7" descr="/tmp/esp32p4_guide/icons/arrowright_8A97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672" y="4046220"/>
            <a:ext cx="219456" cy="23774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3319272" y="3456432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4"/>
          <p:cNvSpPr/>
          <p:nvPr/>
        </p:nvSpPr>
        <p:spPr>
          <a:xfrm>
            <a:off x="4311396" y="3639312"/>
            <a:ext cx="530352" cy="53035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8" descr="/tmp/esp32p4_guide/icons/terminal_0A5F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0725" y="3758641"/>
            <a:ext cx="291694" cy="29169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456432" y="42611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ビルド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3429000" y="45537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Project</a:t>
            </a:r>
            <a:endParaRPr lang="en-US" sz="830" dirty="0"/>
          </a:p>
        </p:txBody>
      </p:sp>
      <p:pic>
        <p:nvPicPr>
          <p:cNvPr id="38" name="Image 9" descr="/tmp/esp32p4_guide/icons/arrowright_8A97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4046220"/>
            <a:ext cx="219456" cy="237744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089904" y="3456432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8"/>
          <p:cNvSpPr/>
          <p:nvPr/>
        </p:nvSpPr>
        <p:spPr>
          <a:xfrm>
            <a:off x="7082028" y="3639312"/>
            <a:ext cx="530352" cy="53035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1" name="Image 10" descr="/tmp/esp32p4_guide/icons/bolt_0A5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7" y="3758641"/>
            <a:ext cx="291694" cy="29169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227064" y="42611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書き込み</a:t>
            </a:r>
            <a:endParaRPr lang="en-US" sz="1250" dirty="0"/>
          </a:p>
        </p:txBody>
      </p:sp>
      <p:sp>
        <p:nvSpPr>
          <p:cNvPr id="43" name="Text 30"/>
          <p:cNvSpPr/>
          <p:nvPr/>
        </p:nvSpPr>
        <p:spPr>
          <a:xfrm>
            <a:off x="6199632" y="45537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your Project (UART)</a:t>
            </a:r>
            <a:endParaRPr lang="en-US" sz="830" dirty="0"/>
          </a:p>
        </p:txBody>
      </p:sp>
      <p:pic>
        <p:nvPicPr>
          <p:cNvPr id="44" name="Image 11" descr="/tmp/esp32p4_guide/icons/arrowright_8A97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36" y="4046220"/>
            <a:ext cx="219456" cy="237744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8860536" y="3456432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32"/>
          <p:cNvSpPr/>
          <p:nvPr/>
        </p:nvSpPr>
        <p:spPr>
          <a:xfrm>
            <a:off x="9852660" y="3639312"/>
            <a:ext cx="530352" cy="530352"/>
          </a:xfrm>
          <a:prstGeom prst="ellipse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7" name="Image 12" descr="/tmp/esp32p4_guide/icons/monitor_0A5FB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1989" y="3758641"/>
            <a:ext cx="291694" cy="291694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8997696" y="42611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モニタ確認</a:t>
            </a:r>
            <a:endParaRPr lang="en-US" sz="1250" dirty="0"/>
          </a:p>
        </p:txBody>
      </p:sp>
      <p:sp>
        <p:nvSpPr>
          <p:cNvPr id="49" name="Text 34"/>
          <p:cNvSpPr/>
          <p:nvPr/>
        </p:nvSpPr>
        <p:spPr>
          <a:xfrm>
            <a:off x="8970264" y="45537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Device</a:t>
            </a:r>
            <a:endParaRPr lang="en-US" sz="830" dirty="0"/>
          </a:p>
        </p:txBody>
      </p:sp>
      <p:sp>
        <p:nvSpPr>
          <p:cNvPr id="50" name="Shape 35"/>
          <p:cNvSpPr/>
          <p:nvPr/>
        </p:nvSpPr>
        <p:spPr>
          <a:xfrm>
            <a:off x="548640" y="512064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EEFAF1"/>
          </a:solidFill>
          <a:ln w="12700">
            <a:solidFill>
              <a:srgbClr val="B6E3C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1" name="Image 13" descr="/tmp/esp32p4_guide/icons/lightbulb_0D203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" y="5248656"/>
            <a:ext cx="256032" cy="256032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1051560" y="521208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動作確認の目安</a:t>
            </a:r>
            <a:endParaRPr lang="en-US" sz="1150" dirty="0"/>
          </a:p>
        </p:txBody>
      </p:sp>
      <p:sp>
        <p:nvSpPr>
          <p:cNvPr id="53" name="Text 37"/>
          <p:cNvSpPr/>
          <p:nvPr/>
        </p:nvSpPr>
        <p:spPr>
          <a:xfrm>
            <a:off x="768096" y="5522976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シリアルモニタのログに「Found 32MB PSRAM device」のような表示があれば、PSRAMが正しく認識され正常に動作しています。本体画面にサンプルUIが表示されればセットアップ完了です。</a:t>
            </a:r>
            <a:endParaRPr lang="en-US" sz="1000" dirty="0"/>
          </a:p>
        </p:txBody>
      </p:sp>
      <p:sp>
        <p:nvSpPr>
          <p:cNvPr id="54" name="Text 3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55" name="Text 3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640080" cy="640080"/>
          </a:xfrm>
          <a:prstGeom prst="ellipse">
            <a:avLst/>
          </a:prstGeom>
          <a:solidFill>
            <a:srgbClr val="0A5FB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tmp/esp32p4_guide/icons/b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" y="546354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65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よくあるつまずきポイント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298448" y="82296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FFF4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/tmp/esp32p4_guide/icons/warning_9A5B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172135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581912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画面が真っ暗、表示が乱れる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4672" y="2313432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ほとんどはPSRAM未検出が原因。シリアルログでPSRAM検出を確認し、給電不足も疑う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6099048" y="141732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6300216" y="1618488"/>
            <a:ext cx="457200" cy="457200"/>
          </a:xfrm>
          <a:prstGeom prst="ellipse">
            <a:avLst/>
          </a:prstGeom>
          <a:solidFill>
            <a:srgbClr val="FFF4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/tmp/esp32p4_guide/icons/warning_9A5B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086" y="1721358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581912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シリアルポートが表示されない（特にmacOS）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2313432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CH341ドライバ未導入、または既知の不具合。「USB 2.0 Device」ポートに切り替えて試す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48640" y="3465576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2"/>
          <p:cNvSpPr/>
          <p:nvPr/>
        </p:nvSpPr>
        <p:spPr>
          <a:xfrm>
            <a:off x="749808" y="3666744"/>
            <a:ext cx="457200" cy="457200"/>
          </a:xfrm>
          <a:prstGeom prst="ellipse">
            <a:avLst/>
          </a:prstGeom>
          <a:solidFill>
            <a:srgbClr val="FFF4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3" descr="/tmp/esp32p4_guide/icons/warning_9A5B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3769614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3630168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書き込み（Flash）が失敗する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04672" y="4361688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ダウンロードモードに入れていない可能性。BOOT/RESETボタン操作を再度実施する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099048" y="3465576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6"/>
          <p:cNvSpPr/>
          <p:nvPr/>
        </p:nvSpPr>
        <p:spPr>
          <a:xfrm>
            <a:off x="6300216" y="3666744"/>
            <a:ext cx="457200" cy="457200"/>
          </a:xfrm>
          <a:prstGeom prst="ellipse">
            <a:avLst/>
          </a:prstGeom>
          <a:solidFill>
            <a:srgbClr val="FFF4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4" descr="/tmp/esp32p4_guide/icons/warning_9A5B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086" y="3769614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630168"/>
            <a:ext cx="4325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ビルド時に型名・APIエラーが出る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355080" y="4361688"/>
            <a:ext cx="4818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主にLVGL等ディスプレイ系で発生。コードをAPI変更に合わせて修正するか、v5.4.2をCustom Installationで導入する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548640" y="5513832"/>
            <a:ext cx="10881360" cy="8500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4"/>
          <p:cNvSpPr/>
          <p:nvPr/>
        </p:nvSpPr>
        <p:spPr>
          <a:xfrm>
            <a:off x="749808" y="5613832"/>
            <a:ext cx="457200" cy="457200"/>
          </a:xfrm>
          <a:prstGeom prst="ellipse">
            <a:avLst/>
          </a:prstGeom>
          <a:solidFill>
            <a:srgbClr val="FFF4E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5" descr="/tmp/esp32p4_guide/icons/warning_9A5B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5716702"/>
            <a:ext cx="251460" cy="251460"/>
          </a:xfrm>
          <a:prstGeom prst="rect">
            <a:avLst/>
          </a:prstGeom>
        </p:spPr>
      </p:pic>
      <p:sp>
        <p:nvSpPr>
          <p:cNvPr id="31" name="Text 29"/>
          <p:cNvSpPr/>
          <p:nvPr/>
        </p:nvSpPr>
        <p:spPr>
          <a:xfrm>
            <a:off x="1353312" y="5670000"/>
            <a:ext cx="95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20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書き込み時に「chip revision」エラーが出る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53312" y="5990000"/>
            <a:ext cx="97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Configuration Editorで「Select ESP32-P4 revisions &lt;3.0」を有効にしFull Clean（手順書7-6）</a:t>
            </a:r>
            <a:endParaRPr lang="en-US" sz="1080" dirty="0"/>
          </a:p>
        </p:txBody>
      </p:sp>
      <p:sp>
        <p:nvSpPr>
          <p:cNvPr id="26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× VS Code セットアップガイド  |  CrowPanel Advanced 7inch (ESP32-P4)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まとめ：6つのフェーズで開発環境が完成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5304A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20140" y="14447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tmp/esp32p4_gui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56819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0848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事前準備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386584" y="12801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5304A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2958084" y="14447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/tmp/esp32p4_guide/icons/vs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156819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59736" y="20848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Code導入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24528" y="12801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5304A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4796028" y="14447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/tmp/esp32p4_guide/icons/us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568196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7680" y="20848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USBドライバ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62472" y="12801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5304A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6633972" y="14447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/tmp/esp32p4_guide/icons/puzz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1568196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35624" y="20848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900416" y="12801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5304A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8471916" y="14447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/tmp/esp32p4_guide/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1568196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73568" y="20848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ESP-IDF構築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9738360" y="12801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5304A"/>
          </a:solidFill>
          <a:ln w="12700">
            <a:solidFill>
              <a:srgbClr val="23415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7"/>
          <p:cNvSpPr/>
          <p:nvPr/>
        </p:nvSpPr>
        <p:spPr>
          <a:xfrm>
            <a:off x="10309860" y="14447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5" descr="/tmp/esp32p4_guide/icons/bol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3304" y="1568196"/>
            <a:ext cx="301752" cy="3017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811512" y="2084832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動作確認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参考リンク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6" descr="/tmp/esp32p4_guide/icons/link_02C3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" y="3594506"/>
            <a:ext cx="181051" cy="18105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05840" y="349300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Elecrow公式コース資料（Advance HMI P4 7inch Course V1.1）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548640" y="3995928"/>
            <a:ext cx="329184" cy="329184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7" descr="/tmp/esp32p4_guide/icons/link_02C3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" y="4069994"/>
            <a:ext cx="181051" cy="181051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05840" y="396849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Elecrow公式GitHubリポジトリ（CrowPanel-Advanced-7inch-ESP32-P4）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548640" y="4471416"/>
            <a:ext cx="329184" cy="329184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8" descr="/tmp/esp32p4_guide/icons/link_02C3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" y="4545482"/>
            <a:ext cx="181051" cy="181051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05840" y="44439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VS Code拡張機能 公式ドキュメント（docs.espressif.com）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548640" y="4946904"/>
            <a:ext cx="329184" cy="329184"/>
          </a:xfrm>
          <a:prstGeom prst="ellipse">
            <a:avLst/>
          </a:prstGeom>
          <a:solidFill>
            <a:srgbClr val="1530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9" descr="/tmp/esp32p4_guide/icons/link_02C3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" y="5020970"/>
            <a:ext cx="181051" cy="181051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05840" y="49194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WCH CH341ドライバ ダウンロードページ（wch-ic.com）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548640" y="562356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5304A"/>
          </a:solidFill>
          <a:ln w="12700">
            <a:solidFill>
              <a:srgbClr val="0A5FB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9"/>
          <p:cNvSpPr/>
          <p:nvPr/>
        </p:nvSpPr>
        <p:spPr>
          <a:xfrm>
            <a:off x="822960" y="56235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詳しい手順は本動画とあわせて「ESP-IDF × VS Code セットアップ手順書（PDF版）」をご覧ください。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Microsoft Office PowerPoint</Application>
  <PresentationFormat>ワイド画面</PresentationFormat>
  <Paragraphs>225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FY Yoshida</cp:lastModifiedBy>
  <cp:revision>1</cp:revision>
  <dcterms:created xsi:type="dcterms:W3CDTF">2026-08-19T22:16:08Z</dcterms:created>
  <dcterms:modified xsi:type="dcterms:W3CDTF">2026-08-30T00:55:35Z</dcterms:modified>
</cp:coreProperties>
</file>